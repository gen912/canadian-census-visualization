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8" r:id="rId1"/>
  </p:sldMasterIdLst>
  <p:notesMasterIdLst>
    <p:notesMasterId r:id="rId32"/>
  </p:notesMasterIdLst>
  <p:sldIdLst>
    <p:sldId id="256" r:id="rId2"/>
    <p:sldId id="286" r:id="rId3"/>
    <p:sldId id="296" r:id="rId4"/>
    <p:sldId id="285" r:id="rId5"/>
    <p:sldId id="288" r:id="rId6"/>
    <p:sldId id="289" r:id="rId7"/>
    <p:sldId id="290" r:id="rId8"/>
    <p:sldId id="291" r:id="rId9"/>
    <p:sldId id="293" r:id="rId10"/>
    <p:sldId id="294" r:id="rId11"/>
    <p:sldId id="295" r:id="rId12"/>
    <p:sldId id="297" r:id="rId13"/>
    <p:sldId id="298" r:id="rId14"/>
    <p:sldId id="300" r:id="rId15"/>
    <p:sldId id="301" r:id="rId16"/>
    <p:sldId id="299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5" r:id="rId30"/>
    <p:sldId id="31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75" autoAdjust="0"/>
    <p:restoredTop sz="96374" autoAdjust="0"/>
  </p:normalViewPr>
  <p:slideViewPr>
    <p:cSldViewPr snapToGrid="0">
      <p:cViewPr varScale="1">
        <p:scale>
          <a:sx n="107" d="100"/>
          <a:sy n="107" d="100"/>
        </p:scale>
        <p:origin x="1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A6190C-3C84-46E6-B023-7C78E6248499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6ED981-532E-419E-A35E-798199DC2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886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47981-BB91-4A72-C3AB-2F109E4DF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B5B00-292E-1243-978C-B73BB8B7D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10956-14FA-58E3-8BDB-E5442E81E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9090D-C8CE-3E03-52A1-2CE3BCCFF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29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CA664-D0C8-C911-4086-47DD93299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2008A-2CA1-9088-6503-6EE273664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0FEB8A-33E9-CAAC-92DF-2EEEE91D4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F6C9A-2D72-40EA-152E-141BFDFFB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07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28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D5342-6C37-8E26-472B-20732C16E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D1D6C-148E-2E7F-661F-7DE312BB4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BAD91-7BF9-1D52-1781-61498D95B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BCB80-BB09-6357-CB6C-C22DD31902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433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3B955-AD63-C26A-CD8D-1E60C76DC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03BC5C-B048-253D-90E7-95EA0A388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E9583F-FD0C-90A1-FEB2-7DC470358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C7486-461E-4184-6CDF-9FD6DFAB6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23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FD65E-4F64-8DBB-E149-AE0E5B1A9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C0D3C-2113-B927-9516-628A10606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8FE78-0B4C-C041-3D08-6B0CC8CD9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8D3B5-0B92-6627-0BC9-C61FB7A5A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730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58DF6-7D21-AF56-0466-377A6BD0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303EE-1E8E-2A50-62C0-B22403A17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97259B-799B-BB00-98D3-87D4EE439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CCE24-208C-584C-4DDF-7CE6EE6DB6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35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80F2E-B8E1-E2BE-FC6E-965B165D4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DAE5C-3AA0-D9AC-0E46-9A0D82C32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8C4AB-6831-485C-1F3D-AD9FE9387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FED70-97C8-94B1-AE01-58D349538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700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71329-97AB-055E-F74E-AA3E12B52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0D250-4710-E1C5-BE9E-F75D59DF98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9B92C-1192-2333-AAAA-987CB49F8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0FA8C-0753-3535-3071-00B7B45FE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99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BBF28-2D49-19F3-2F96-D4B813A93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BEAE9-E962-BDCD-FB48-3A85D422A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6C6336-01D9-97BF-8784-E55882735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C1C65-C398-5DAC-516C-B29D980BA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5781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CC09B-DC0C-218B-4A08-05954DBF3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039A5-7801-E45B-BBA1-BAD5B70A5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803690-2C24-56F4-3736-7F52FA484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B9722-2F6E-68E5-3CF9-6DFCD768B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705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50836-776A-0027-5E97-AC562C08E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DAA0C-0A5D-C95F-20C3-61251C092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4E993D-2C75-3385-B630-A56E5CFC5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2B5F8-394A-C02B-F395-6FBF0C68C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40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63F9E-68AC-DD66-8CA7-674BB4A08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DC72D7-333E-F302-3AF7-7D8E3F4BE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3811C-9934-E98D-060F-CF0DD3FBC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3EDC5-A270-D556-2C7D-62E5ED687E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233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2DE84-521C-10E2-B030-D80A6EB96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56CB00-58F4-5BBB-4CE3-5D09AFCA7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EABA3-C348-989D-1C3C-AF6452982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1B053-DA8D-BE93-5845-F3ED39D50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8090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934B0-F51B-77CD-9F00-C5DDD5D55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4F336B-6CAA-DB6C-128E-D0B8BE46E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85014D-C85C-0310-D0E2-F7BA71290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ED81F-972F-0FD1-9881-EF80DBC05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765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297C9-1C37-3448-C72D-16200E4F9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F41226-B029-62B2-2171-8553B63EC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26BEA-2CB4-8DA4-6DCC-8681ECF0C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1446D-AB0B-1550-0320-DB27FD3342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332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65520-568F-E8F8-572F-08BE72ACF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7CFB17-90E3-A087-23BB-CE05969A4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2C37D-98EC-E07C-6F60-9604E19EE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EDEC2-E205-8D4D-4D19-82CABA28A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9466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C9113-EA7F-FF63-290C-E6B6941B8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32BFD-4C18-8C56-62D3-6CFC0C06A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647731-931E-F668-6692-ECD54F4B2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3B9CC-B209-9935-3786-F092AF6F3E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0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FACA6-634F-3E83-74B0-DF599118E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B1708-09DD-AB81-29C4-C928658BB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5FF49A-7C12-3CFD-66EC-EBEB98190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4E988-C367-0BD0-CE8B-C06A7B89E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936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117B1-2E43-2A25-E539-79F7A652E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3CE23-B8AD-5329-A30E-B9D4FD2D3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5E120E-7550-2839-F7D7-46775CC51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0B2A6-8869-1E82-A856-0548BF1B5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8188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389A6-76BE-0ED5-4A59-52BDCEEA0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AC81E-8F87-9ED2-C7E2-66E007D20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70E60-40B3-D193-AAAC-CEC42FB70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A99E4-6EDB-F66D-89E1-05BE67339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1036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3C09D-553F-5185-89C4-38CE739B0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A35504-9C12-2CEB-9B67-82B66D91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A4522E-6D9E-9906-F6D1-574FA0EA2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D132F-7D98-A650-04E4-3EF1B38B1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828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3D910-27B4-27C8-B518-D255C9373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D97426-1C73-9A68-FAAA-488E57AD74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005A72-44F2-180F-21E8-2C5CB80E0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38B2A-9448-1F26-F06E-0580215356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7735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C2EA1-3148-43FF-7CB0-A153A2914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DA4CC4-3850-8270-D789-D7EE498CD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866DE-FC17-F806-2DA0-066720A7D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024F7-6C79-C0F1-7B05-ABB08D7FB1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624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68964-B5B6-63CC-3F0C-AC3FC606D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875B0-7039-698E-6EA0-4A9648DC2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7A7857-3F93-B4B4-F735-A66978618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254A9-8F7B-3B82-1217-BD984E0BF7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393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011E1-4BC1-5A8C-8C3D-8F9F85C12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DA437-8FF9-8930-C86D-5AA7872F6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E2EAE1-EBEE-5B0F-1786-8B86E66DA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FCF29-710F-F65E-5343-D8EB87F0B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210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9B283-8841-4A75-86C8-2A6299C78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EBC7C-3858-B94A-22C1-C80DAA0FB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6C72E-79B7-F0A7-10F8-6F3B46CDB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09FD6-7F29-6F2D-4A7E-AB723F9FD7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6431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82BD3-73F1-ADCD-8316-683A8651C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E58CC-DEE6-2C36-8F5F-A5B980398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07B91B-48BC-445B-86FB-549A09D50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F1E52-C306-928C-31D3-4D57FDFAC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7266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91814-4F71-FAC7-0C95-FFCC8FBE5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D5A23F-6E14-681A-7C48-5AC4949F7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EEF99C-3A8C-8E85-1FA3-21A8D5824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CBDA2-1877-9AE5-4A5C-E9944F7C4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ED981-532E-419E-A35E-798199DC2A9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762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A037-1562-44A1-81D1-2BCF99CE123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5636-29AC-4B1A-97C5-6CDF5592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98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A037-1562-44A1-81D1-2BCF99CE123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5636-29AC-4B1A-97C5-6CDF5592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942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A037-1562-44A1-81D1-2BCF99CE123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5636-29AC-4B1A-97C5-6CDF5592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31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A037-1562-44A1-81D1-2BCF99CE123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5636-29AC-4B1A-97C5-6CDF5592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091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A037-1562-44A1-81D1-2BCF99CE123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5636-29AC-4B1A-97C5-6CDF5592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40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A037-1562-44A1-81D1-2BCF99CE123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5636-29AC-4B1A-97C5-6CDF5592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50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A037-1562-44A1-81D1-2BCF99CE123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5636-29AC-4B1A-97C5-6CDF5592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432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A037-1562-44A1-81D1-2BCF99CE123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5636-29AC-4B1A-97C5-6CDF5592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7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A037-1562-44A1-81D1-2BCF99CE123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5636-29AC-4B1A-97C5-6CDF5592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78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A037-1562-44A1-81D1-2BCF99CE123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5636-29AC-4B1A-97C5-6CDF5592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5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A037-1562-44A1-81D1-2BCF99CE123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5636-29AC-4B1A-97C5-6CDF5592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51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A037-1562-44A1-81D1-2BCF99CE123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5636-29AC-4B1A-97C5-6CDF55924F1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1639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A037-1562-44A1-81D1-2BCF99CE123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5636-29AC-4B1A-97C5-6CDF5592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50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A037-1562-44A1-81D1-2BCF99CE123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5636-29AC-4B1A-97C5-6CDF5592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60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A037-1562-44A1-81D1-2BCF99CE123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5636-29AC-4B1A-97C5-6CDF5592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60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A037-1562-44A1-81D1-2BCF99CE123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5636-29AC-4B1A-97C5-6CDF5592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9029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A037-1562-44A1-81D1-2BCF99CE123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5636-29AC-4B1A-97C5-6CDF5592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902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05CA037-1562-44A1-81D1-2BCF99CE123A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A5636-29AC-4B1A-97C5-6CDF55924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65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  <p:sldLayoutId id="2147483890" r:id="rId12"/>
    <p:sldLayoutId id="2147483891" r:id="rId13"/>
    <p:sldLayoutId id="2147483892" r:id="rId14"/>
    <p:sldLayoutId id="2147483893" r:id="rId15"/>
    <p:sldLayoutId id="2147483894" r:id="rId16"/>
    <p:sldLayoutId id="21474838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wtkns.com/pointplotter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8203" y="2290911"/>
            <a:ext cx="10266111" cy="1348381"/>
          </a:xfrm>
        </p:spPr>
        <p:txBody>
          <a:bodyPr/>
          <a:lstStyle/>
          <a:p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Creating Dashboard using </a:t>
            </a:r>
            <a:br>
              <a:rPr lang="en-US" sz="4000" b="1" dirty="0"/>
            </a:br>
            <a:r>
              <a:rPr lang="en-US" sz="4000" b="1" dirty="0"/>
              <a:t>VGA (Visualization for Geospatial Analysis)</a:t>
            </a:r>
            <a:br>
              <a:rPr lang="en-US" sz="4000" b="1" dirty="0"/>
            </a:br>
            <a:r>
              <a:rPr lang="en-US" sz="4000" dirty="0"/>
              <a:t>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8204" y="4733099"/>
            <a:ext cx="9342438" cy="972505"/>
          </a:xfrm>
        </p:spPr>
        <p:txBody>
          <a:bodyPr>
            <a:normAutofit/>
          </a:bodyPr>
          <a:lstStyle/>
          <a:p>
            <a:r>
              <a:rPr lang="en-US" sz="2800" cap="none" dirty="0">
                <a:solidFill>
                  <a:schemeClr val="accent5">
                    <a:lumMod val="50000"/>
                  </a:schemeClr>
                </a:solidFill>
              </a:rPr>
              <a:t>Debajyoti Mondal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C04FB0A-98EE-499F-B614-57752DEA9004}"/>
              </a:ext>
            </a:extLst>
          </p:cNvPr>
          <p:cNvSpPr txBox="1">
            <a:spLocks/>
          </p:cNvSpPr>
          <p:nvPr/>
        </p:nvSpPr>
        <p:spPr>
          <a:xfrm>
            <a:off x="488204" y="-42252"/>
            <a:ext cx="10179796" cy="13998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dirty="0"/>
              <a:t>CMPT 384 – Information Visualization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7AFFCA1-EBE6-47D4-81C2-149021A31DCB}"/>
              </a:ext>
            </a:extLst>
          </p:cNvPr>
          <p:cNvSpPr txBox="1">
            <a:spLocks/>
          </p:cNvSpPr>
          <p:nvPr/>
        </p:nvSpPr>
        <p:spPr>
          <a:xfrm>
            <a:off x="488204" y="5572333"/>
            <a:ext cx="3931396" cy="11713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US" sz="1200" cap="none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FEA0EF-8334-46F1-8D47-A6CD6D94B0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3530" y="62909"/>
            <a:ext cx="1018470" cy="101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336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79EC8-F26B-8F7D-A4A1-8EF5AB40C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99C35-730E-F2DC-B644-56899154A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VGA?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C217F8-05B7-EFA7-DBF8-80EA4FA4646E}"/>
              </a:ext>
            </a:extLst>
          </p:cNvPr>
          <p:cNvSpPr/>
          <p:nvPr/>
        </p:nvSpPr>
        <p:spPr>
          <a:xfrm>
            <a:off x="646111" y="1346524"/>
            <a:ext cx="908941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A framework built to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combine visualizations and data processing 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avoiding the effort of building visualization dashboard from scratch</a:t>
            </a:r>
          </a:p>
          <a:p>
            <a:pPr marL="800100" lvl="1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You can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grab visualizations 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built in d3 (and others) and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create a plugin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around them</a:t>
            </a:r>
          </a:p>
          <a:p>
            <a:pPr marL="800100" lvl="1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You can write some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data processing 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code and create a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plugin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based on that</a:t>
            </a:r>
          </a:p>
          <a:p>
            <a:pPr marL="800100" lvl="1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You can use those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plugins to create visualization 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dashboard</a:t>
            </a:r>
          </a:p>
          <a:p>
            <a:pPr marL="800100" lvl="1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The 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vga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framework will create visualizations simply as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.</a:t>
            </a:r>
            <a:r>
              <a:rPr lang="en-US" sz="2400" b="1" dirty="0" err="1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json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files</a:t>
            </a:r>
          </a:p>
          <a:p>
            <a:pPr lvl="1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 marL="34290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5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B12E71-4F7D-80EC-9787-2D6F904E08FA}"/>
              </a:ext>
            </a:extLst>
          </p:cNvPr>
          <p:cNvSpPr txBox="1"/>
          <p:nvPr/>
        </p:nvSpPr>
        <p:spPr>
          <a:xfrm>
            <a:off x="508269" y="5608155"/>
            <a:ext cx="110376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We will now go through some tasks – Use a good code editor to make the coding easier --- you can use basic editor such as notepad++ that highlights the tags, or more advanced editors such as visual studio 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987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766D0-8052-62B5-FE3D-FCF613C5A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FF46D-31A5-AC5A-9058-9E861D2C6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455" y="2524709"/>
            <a:ext cx="5887396" cy="1400530"/>
          </a:xfrm>
        </p:spPr>
        <p:txBody>
          <a:bodyPr/>
          <a:lstStyle/>
          <a:p>
            <a:r>
              <a:rPr lang="en-US" dirty="0"/>
              <a:t>TASK 1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7075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BD289-E364-44EE-853E-1CAC8487B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Visualization Dashboard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FE0373-DCC4-8255-372B-9ED0FFE3FD14}"/>
              </a:ext>
            </a:extLst>
          </p:cNvPr>
          <p:cNvSpPr/>
          <p:nvPr/>
        </p:nvSpPr>
        <p:spPr>
          <a:xfrm>
            <a:off x="646111" y="1346524"/>
            <a:ext cx="9089410" cy="14568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Navigate to </a:t>
            </a:r>
            <a:r>
              <a:rPr lang="en-CA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1_first-plugin/</a:t>
            </a:r>
          </a:p>
          <a:p>
            <a:pPr marL="34290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This will show up an empty map dashboard </a:t>
            </a:r>
          </a:p>
          <a:p>
            <a:pPr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		with some text ‘Hey there!’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EB72AB4-7E1A-0735-24F2-3D2F0D281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927" y="1346524"/>
            <a:ext cx="4753638" cy="2267266"/>
          </a:xfrm>
          <a:prstGeom prst="round2DiagRect">
            <a:avLst>
              <a:gd name="adj1" fmla="val 4889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0725B80-7902-DA0E-3201-5FC04E2B8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142" y="3864990"/>
            <a:ext cx="7621398" cy="272490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4937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1DA61-C5D7-7C85-49D4-B7E0544A8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A7EF5-6D50-057B-53CB-F9EA37EB7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Visualization Dashboard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29C5FF-D849-A0C2-9F93-184CF2A812D5}"/>
              </a:ext>
            </a:extLst>
          </p:cNvPr>
          <p:cNvSpPr/>
          <p:nvPr/>
        </p:nvSpPr>
        <p:spPr>
          <a:xfrm>
            <a:off x="646111" y="1346524"/>
            <a:ext cx="9089410" cy="14568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This is being created by creating </a:t>
            </a:r>
          </a:p>
          <a:p>
            <a:pPr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CA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	a .</a:t>
            </a:r>
            <a:r>
              <a:rPr lang="en-CA" sz="2400" dirty="0" err="1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json</a:t>
            </a:r>
            <a:r>
              <a:rPr lang="en-CA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file and passing it to the </a:t>
            </a:r>
          </a:p>
          <a:p>
            <a:pPr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CA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	</a:t>
            </a:r>
            <a:r>
              <a:rPr lang="en-CA" sz="2400" dirty="0" err="1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vga</a:t>
            </a:r>
            <a:r>
              <a:rPr lang="en-CA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framework</a:t>
            </a:r>
            <a:r>
              <a:rPr lang="en-CA" sz="2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9FD21F0-B059-B04F-66B2-AF889D419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927" y="1346524"/>
            <a:ext cx="4753638" cy="2267266"/>
          </a:xfrm>
          <a:prstGeom prst="round2DiagRect">
            <a:avLst>
              <a:gd name="adj1" fmla="val 4889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1F1F532-6DBB-7B34-C931-AD75A8868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142" y="3864990"/>
            <a:ext cx="7621398" cy="272490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3201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FFC27-85F7-AAB1-E779-5B09DAF36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D899-6E6E-62EC-4BA1-12664AAA3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code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29CE9E-F5F0-B3EE-95E2-D46535C9F13C}"/>
              </a:ext>
            </a:extLst>
          </p:cNvPr>
          <p:cNvSpPr/>
          <p:nvPr/>
        </p:nvSpPr>
        <p:spPr>
          <a:xfrm>
            <a:off x="646111" y="1346524"/>
            <a:ext cx="90894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1_first-plugin/index.html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5504B0-6504-E38B-7A6E-9A6C813E7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90" y="1853248"/>
            <a:ext cx="7825056" cy="4764125"/>
          </a:xfrm>
          <a:prstGeom prst="rect">
            <a:avLst/>
          </a:prstGeom>
        </p:spPr>
      </p:pic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7E746E26-D516-5A60-A25F-E56B10A4B0C0}"/>
              </a:ext>
            </a:extLst>
          </p:cNvPr>
          <p:cNvSpPr/>
          <p:nvPr/>
        </p:nvSpPr>
        <p:spPr>
          <a:xfrm>
            <a:off x="8852687" y="2701995"/>
            <a:ext cx="3139709" cy="612648"/>
          </a:xfrm>
          <a:prstGeom prst="wedgeRectCallout">
            <a:avLst>
              <a:gd name="adj1" fmla="val -100281"/>
              <a:gd name="adj2" fmla="val 107408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Import the </a:t>
            </a:r>
            <a:r>
              <a:rPr lang="en-CA" dirty="0" err="1"/>
              <a:t>vga</a:t>
            </a:r>
            <a:r>
              <a:rPr lang="en-CA" dirty="0"/>
              <a:t> library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E10ADB0F-1F66-C211-CCC3-B73F94AFE71B}"/>
              </a:ext>
            </a:extLst>
          </p:cNvPr>
          <p:cNvSpPr/>
          <p:nvPr/>
        </p:nvSpPr>
        <p:spPr>
          <a:xfrm>
            <a:off x="8852687" y="3550742"/>
            <a:ext cx="3139709" cy="612648"/>
          </a:xfrm>
          <a:prstGeom prst="wedgeRectCallout">
            <a:avLst>
              <a:gd name="adj1" fmla="val -120125"/>
              <a:gd name="adj2" fmla="val 57216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Create an instance of vga</a:t>
            </a:r>
            <a:endParaRPr lang="en-CA" dirty="0"/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C947C7C5-1F27-6F7C-B385-5B3F822EE86D}"/>
              </a:ext>
            </a:extLst>
          </p:cNvPr>
          <p:cNvSpPr/>
          <p:nvPr/>
        </p:nvSpPr>
        <p:spPr>
          <a:xfrm>
            <a:off x="8852687" y="4395746"/>
            <a:ext cx="3139709" cy="612648"/>
          </a:xfrm>
          <a:prstGeom prst="wedgeRectCallout">
            <a:avLst>
              <a:gd name="adj1" fmla="val -84043"/>
              <a:gd name="adj2" fmla="val -36562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try to fetch the config file over the local server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7568780-8C29-8B2E-917D-4129FAE0EB79}"/>
              </a:ext>
            </a:extLst>
          </p:cNvPr>
          <p:cNvSpPr/>
          <p:nvPr/>
        </p:nvSpPr>
        <p:spPr>
          <a:xfrm>
            <a:off x="8852687" y="5240750"/>
            <a:ext cx="3139709" cy="612648"/>
          </a:xfrm>
          <a:prstGeom prst="wedgeRectCallout">
            <a:avLst>
              <a:gd name="adj1" fmla="val -208528"/>
              <a:gd name="adj2" fmla="val -49770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Pass the config (.</a:t>
            </a:r>
            <a:r>
              <a:rPr lang="en-CA" dirty="0" err="1"/>
              <a:t>json</a:t>
            </a:r>
            <a:r>
              <a:rPr lang="en-CA" dirty="0"/>
              <a:t>) file to </a:t>
            </a:r>
            <a:r>
              <a:rPr lang="en-CA" dirty="0" err="1"/>
              <a:t>vga</a:t>
            </a:r>
            <a:endParaRPr lang="en-CA" dirty="0"/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59BDB613-D80F-FF58-FDBF-9BBECD637AA1}"/>
              </a:ext>
            </a:extLst>
          </p:cNvPr>
          <p:cNvSpPr/>
          <p:nvPr/>
        </p:nvSpPr>
        <p:spPr>
          <a:xfrm>
            <a:off x="8852686" y="6085754"/>
            <a:ext cx="3139709" cy="612648"/>
          </a:xfrm>
          <a:prstGeom prst="wedgeRectCallout">
            <a:avLst>
              <a:gd name="adj1" fmla="val -223992"/>
              <a:gd name="adj2" fmla="val -22033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The </a:t>
            </a:r>
            <a:r>
              <a:rPr lang="en-CA" dirty="0" err="1"/>
              <a:t>vga</a:t>
            </a:r>
            <a:r>
              <a:rPr lang="en-CA" dirty="0"/>
              <a:t> library will write the code here for you</a:t>
            </a:r>
          </a:p>
        </p:txBody>
      </p:sp>
    </p:spTree>
    <p:extLst>
      <p:ext uri="{BB962C8B-B14F-4D97-AF65-F5344CB8AC3E}">
        <p14:creationId xmlns:p14="http://schemas.microsoft.com/office/powerpoint/2010/main" val="423773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9193A-6AE2-901F-B242-70012449B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DB1220-C101-6A5A-C620-5032556DE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90" y="1853248"/>
            <a:ext cx="7825056" cy="4764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F06635-113D-76A4-9CE9-B11313852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code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40BAF8-0BFA-14E5-CDC5-5814137EEA88}"/>
              </a:ext>
            </a:extLst>
          </p:cNvPr>
          <p:cNvSpPr/>
          <p:nvPr/>
        </p:nvSpPr>
        <p:spPr>
          <a:xfrm>
            <a:off x="646111" y="1346524"/>
            <a:ext cx="90894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1_first-plugin/index.html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7F596169-046F-DF4E-5112-5AC5EF296814}"/>
              </a:ext>
            </a:extLst>
          </p:cNvPr>
          <p:cNvSpPr/>
          <p:nvPr/>
        </p:nvSpPr>
        <p:spPr>
          <a:xfrm>
            <a:off x="8852687" y="2701995"/>
            <a:ext cx="3139709" cy="612648"/>
          </a:xfrm>
          <a:prstGeom prst="wedgeRectCallout">
            <a:avLst>
              <a:gd name="adj1" fmla="val -100281"/>
              <a:gd name="adj2" fmla="val 107408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Import the </a:t>
            </a:r>
            <a:r>
              <a:rPr lang="en-CA" dirty="0" err="1"/>
              <a:t>vga</a:t>
            </a:r>
            <a:r>
              <a:rPr lang="en-CA" dirty="0"/>
              <a:t> library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F7804A5E-835A-2D09-B1FB-CBDBBE749EBB}"/>
              </a:ext>
            </a:extLst>
          </p:cNvPr>
          <p:cNvSpPr/>
          <p:nvPr/>
        </p:nvSpPr>
        <p:spPr>
          <a:xfrm>
            <a:off x="8852687" y="3550742"/>
            <a:ext cx="3139709" cy="612648"/>
          </a:xfrm>
          <a:prstGeom prst="wedgeRectCallout">
            <a:avLst>
              <a:gd name="adj1" fmla="val -120125"/>
              <a:gd name="adj2" fmla="val 57216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Create an instance of vga</a:t>
            </a:r>
            <a:endParaRPr lang="en-CA" dirty="0"/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3BC4198D-4CE9-D9D8-0659-E79C2E9DFAB9}"/>
              </a:ext>
            </a:extLst>
          </p:cNvPr>
          <p:cNvSpPr/>
          <p:nvPr/>
        </p:nvSpPr>
        <p:spPr>
          <a:xfrm>
            <a:off x="8852687" y="4395746"/>
            <a:ext cx="3139709" cy="612648"/>
          </a:xfrm>
          <a:prstGeom prst="wedgeRectCallout">
            <a:avLst>
              <a:gd name="adj1" fmla="val -84043"/>
              <a:gd name="adj2" fmla="val -36562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try to fetch the config file over the local server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7BFAEE99-B84B-ECA6-92B5-55983066026F}"/>
              </a:ext>
            </a:extLst>
          </p:cNvPr>
          <p:cNvSpPr/>
          <p:nvPr/>
        </p:nvSpPr>
        <p:spPr>
          <a:xfrm>
            <a:off x="8852687" y="5240750"/>
            <a:ext cx="3139709" cy="612648"/>
          </a:xfrm>
          <a:prstGeom prst="wedgeRectCallout">
            <a:avLst>
              <a:gd name="adj1" fmla="val -208528"/>
              <a:gd name="adj2" fmla="val -49770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Pass the config (.</a:t>
            </a:r>
            <a:r>
              <a:rPr lang="en-CA" dirty="0" err="1"/>
              <a:t>json</a:t>
            </a:r>
            <a:r>
              <a:rPr lang="en-CA" dirty="0"/>
              <a:t>) file to </a:t>
            </a:r>
            <a:r>
              <a:rPr lang="en-CA" dirty="0" err="1"/>
              <a:t>vga</a:t>
            </a:r>
            <a:endParaRPr lang="en-CA" dirty="0"/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F6CFF275-26A6-714A-1515-E0436A536700}"/>
              </a:ext>
            </a:extLst>
          </p:cNvPr>
          <p:cNvSpPr/>
          <p:nvPr/>
        </p:nvSpPr>
        <p:spPr>
          <a:xfrm>
            <a:off x="8852686" y="6085754"/>
            <a:ext cx="3139709" cy="612648"/>
          </a:xfrm>
          <a:prstGeom prst="wedgeRectCallout">
            <a:avLst>
              <a:gd name="adj1" fmla="val -223992"/>
              <a:gd name="adj2" fmla="val -22033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The </a:t>
            </a:r>
            <a:r>
              <a:rPr lang="en-CA" dirty="0" err="1"/>
              <a:t>vga</a:t>
            </a:r>
            <a:r>
              <a:rPr lang="en-CA" dirty="0"/>
              <a:t> library will write the code here for you</a:t>
            </a: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5FD62441-169A-361B-772C-7E3350F19F93}"/>
              </a:ext>
            </a:extLst>
          </p:cNvPr>
          <p:cNvSpPr/>
          <p:nvPr/>
        </p:nvSpPr>
        <p:spPr>
          <a:xfrm>
            <a:off x="3406747" y="1853248"/>
            <a:ext cx="4895681" cy="4620610"/>
          </a:xfrm>
          <a:prstGeom prst="wedgeRectCallout">
            <a:avLst>
              <a:gd name="adj1" fmla="val 62696"/>
              <a:gd name="adj2" fmla="val 14317"/>
            </a:avLst>
          </a:prstGeom>
          <a:solidFill>
            <a:schemeClr val="accent4">
              <a:alpha val="88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800" dirty="0">
                <a:solidFill>
                  <a:schemeClr val="tx1"/>
                </a:solidFill>
              </a:rPr>
              <a:t>Where is this config file?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2F0303A-DC4B-6A42-298E-D57833829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3873" y="2567442"/>
            <a:ext cx="1486107" cy="10193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CCCAA7-6F4D-18D5-5466-DF81CA66D3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9"/>
          <a:stretch/>
        </p:blipFill>
        <p:spPr>
          <a:xfrm>
            <a:off x="3473873" y="3730274"/>
            <a:ext cx="4502486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546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6219B-02BB-286E-D8F9-D6400D7EE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389FC7-1712-DCCC-2770-748989942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90" y="1853248"/>
            <a:ext cx="7825056" cy="4764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191F44-F58C-E020-CBE3-EF05936A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code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B87AEE-27BE-1AAE-62A3-DF7FFC79D0A1}"/>
              </a:ext>
            </a:extLst>
          </p:cNvPr>
          <p:cNvSpPr/>
          <p:nvPr/>
        </p:nvSpPr>
        <p:spPr>
          <a:xfrm>
            <a:off x="646111" y="1346524"/>
            <a:ext cx="90894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1_first-plugin/index.html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B080FFEA-5A3B-5F25-6C43-145270B96268}"/>
              </a:ext>
            </a:extLst>
          </p:cNvPr>
          <p:cNvSpPr/>
          <p:nvPr/>
        </p:nvSpPr>
        <p:spPr>
          <a:xfrm>
            <a:off x="8852687" y="2701995"/>
            <a:ext cx="3139709" cy="612648"/>
          </a:xfrm>
          <a:prstGeom prst="wedgeRectCallout">
            <a:avLst>
              <a:gd name="adj1" fmla="val -100281"/>
              <a:gd name="adj2" fmla="val 107408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Import the </a:t>
            </a:r>
            <a:r>
              <a:rPr lang="en-CA" dirty="0" err="1"/>
              <a:t>vga</a:t>
            </a:r>
            <a:r>
              <a:rPr lang="en-CA" dirty="0"/>
              <a:t> library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E4EBFB11-1473-B333-578F-FED5BA158B98}"/>
              </a:ext>
            </a:extLst>
          </p:cNvPr>
          <p:cNvSpPr/>
          <p:nvPr/>
        </p:nvSpPr>
        <p:spPr>
          <a:xfrm>
            <a:off x="8852687" y="3550742"/>
            <a:ext cx="3139709" cy="612648"/>
          </a:xfrm>
          <a:prstGeom prst="wedgeRectCallout">
            <a:avLst>
              <a:gd name="adj1" fmla="val -120125"/>
              <a:gd name="adj2" fmla="val 57216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Create an instance of vga</a:t>
            </a:r>
            <a:endParaRPr lang="en-CA" dirty="0"/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9CC5B949-5E59-E1FD-D33F-0B006E7F8334}"/>
              </a:ext>
            </a:extLst>
          </p:cNvPr>
          <p:cNvSpPr/>
          <p:nvPr/>
        </p:nvSpPr>
        <p:spPr>
          <a:xfrm>
            <a:off x="8852687" y="4395746"/>
            <a:ext cx="3139709" cy="612648"/>
          </a:xfrm>
          <a:prstGeom prst="wedgeRectCallout">
            <a:avLst>
              <a:gd name="adj1" fmla="val -84043"/>
              <a:gd name="adj2" fmla="val -36562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try to fetch the config file over the local server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EA16708A-F47E-2D96-021B-24E5F43D6958}"/>
              </a:ext>
            </a:extLst>
          </p:cNvPr>
          <p:cNvSpPr/>
          <p:nvPr/>
        </p:nvSpPr>
        <p:spPr>
          <a:xfrm>
            <a:off x="8852687" y="5240750"/>
            <a:ext cx="3139709" cy="612648"/>
          </a:xfrm>
          <a:prstGeom prst="wedgeRectCallout">
            <a:avLst>
              <a:gd name="adj1" fmla="val -208528"/>
              <a:gd name="adj2" fmla="val -49770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Pass the config (.</a:t>
            </a:r>
            <a:r>
              <a:rPr lang="en-CA" dirty="0" err="1"/>
              <a:t>json</a:t>
            </a:r>
            <a:r>
              <a:rPr lang="en-CA" dirty="0"/>
              <a:t>) file to </a:t>
            </a:r>
            <a:r>
              <a:rPr lang="en-CA" dirty="0" err="1"/>
              <a:t>vga</a:t>
            </a:r>
            <a:endParaRPr lang="en-CA" dirty="0"/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6FFDA27D-8B0C-55E6-3E69-82AA8B6E29D0}"/>
              </a:ext>
            </a:extLst>
          </p:cNvPr>
          <p:cNvSpPr/>
          <p:nvPr/>
        </p:nvSpPr>
        <p:spPr>
          <a:xfrm>
            <a:off x="8852686" y="6085754"/>
            <a:ext cx="3139709" cy="612648"/>
          </a:xfrm>
          <a:prstGeom prst="wedgeRectCallout">
            <a:avLst>
              <a:gd name="adj1" fmla="val -223992"/>
              <a:gd name="adj2" fmla="val -22033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The </a:t>
            </a:r>
            <a:r>
              <a:rPr lang="en-CA" dirty="0" err="1"/>
              <a:t>vga</a:t>
            </a:r>
            <a:r>
              <a:rPr lang="en-CA" dirty="0"/>
              <a:t> library will write the code here for you</a:t>
            </a: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1C45A48A-3C0A-23C9-CCE1-EFA65916278D}"/>
              </a:ext>
            </a:extLst>
          </p:cNvPr>
          <p:cNvSpPr/>
          <p:nvPr/>
        </p:nvSpPr>
        <p:spPr>
          <a:xfrm>
            <a:off x="3406747" y="1853248"/>
            <a:ext cx="4895681" cy="4620610"/>
          </a:xfrm>
          <a:prstGeom prst="wedgeRectCallout">
            <a:avLst>
              <a:gd name="adj1" fmla="val 62696"/>
              <a:gd name="adj2" fmla="val 14317"/>
            </a:avLst>
          </a:prstGeom>
          <a:solidFill>
            <a:schemeClr val="accent4">
              <a:alpha val="88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800" dirty="0">
                <a:solidFill>
                  <a:schemeClr val="tx1"/>
                </a:solidFill>
              </a:rPr>
              <a:t>Where is this config file?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AF27F14-298E-65CD-3F50-DB33BE34B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3873" y="2567442"/>
            <a:ext cx="1486107" cy="10193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FEE0FC3-D77D-5E0A-36A3-CBDA2DF917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9"/>
          <a:stretch/>
        </p:blipFill>
        <p:spPr>
          <a:xfrm>
            <a:off x="3473873" y="3730274"/>
            <a:ext cx="4502486" cy="274358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6AE3788-985D-4BCA-B3BB-8F9D87E9ACCB}"/>
              </a:ext>
            </a:extLst>
          </p:cNvPr>
          <p:cNvSpPr/>
          <p:nvPr/>
        </p:nvSpPr>
        <p:spPr>
          <a:xfrm>
            <a:off x="1359476" y="3491039"/>
            <a:ext cx="7825056" cy="226663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What should we do?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Understand the functions of .</a:t>
            </a:r>
            <a:r>
              <a:rPr lang="en-US" sz="2400" dirty="0" err="1"/>
              <a:t>js</a:t>
            </a:r>
            <a:r>
              <a:rPr lang="en-US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Understand .</a:t>
            </a:r>
            <a:r>
              <a:rPr lang="en-US" sz="2400" dirty="0" err="1"/>
              <a:t>json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Understand the changes in dashboard once you chance .</a:t>
            </a:r>
            <a:r>
              <a:rPr lang="en-US" sz="2400" dirty="0" err="1"/>
              <a:t>js</a:t>
            </a:r>
            <a:r>
              <a:rPr lang="en-US" sz="2400" dirty="0"/>
              <a:t> or .</a:t>
            </a:r>
            <a:r>
              <a:rPr lang="en-US" sz="2400" dirty="0" err="1"/>
              <a:t>json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1616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C7D08-72BC-68D0-85B6-66697749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88FA7-D498-F779-D04C-F5FAF3031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code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655371-37DC-FCF6-30D9-F69646270A38}"/>
              </a:ext>
            </a:extLst>
          </p:cNvPr>
          <p:cNvSpPr/>
          <p:nvPr/>
        </p:nvSpPr>
        <p:spPr>
          <a:xfrm>
            <a:off x="646111" y="1346524"/>
            <a:ext cx="90894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CA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config.json</a:t>
            </a:r>
            <a:endParaRPr lang="en-CA" sz="240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F79003-7F2B-AD7B-A813-56CED7A6D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026" y="1889802"/>
            <a:ext cx="6925642" cy="4515480"/>
          </a:xfrm>
          <a:prstGeom prst="rect">
            <a:avLst/>
          </a:prstGeom>
        </p:spPr>
      </p:pic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29E3B01F-6BB6-BF70-E8E8-CF15B83B510C}"/>
              </a:ext>
            </a:extLst>
          </p:cNvPr>
          <p:cNvSpPr/>
          <p:nvPr/>
        </p:nvSpPr>
        <p:spPr>
          <a:xfrm>
            <a:off x="6096001" y="1157591"/>
            <a:ext cx="5028974" cy="956922"/>
          </a:xfrm>
          <a:prstGeom prst="wedgeRectCallout">
            <a:avLst>
              <a:gd name="adj1" fmla="val -84722"/>
              <a:gd name="adj2" fmla="val 92529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These are map properties. You can change this to [56,-106] for centering the map on Canada but noting will change as a map is not currently loaded</a:t>
            </a: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5C05C20B-D8B9-5A64-D061-B66E1BD74B7B}"/>
              </a:ext>
            </a:extLst>
          </p:cNvPr>
          <p:cNvSpPr/>
          <p:nvPr/>
        </p:nvSpPr>
        <p:spPr>
          <a:xfrm>
            <a:off x="6348921" y="2626467"/>
            <a:ext cx="5028974" cy="599047"/>
          </a:xfrm>
          <a:prstGeom prst="wedgeRectCallout">
            <a:avLst>
              <a:gd name="adj1" fmla="val -39846"/>
              <a:gd name="adj2" fmla="val 127251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This is the way of importing the .</a:t>
            </a:r>
            <a:r>
              <a:rPr lang="en-CA" dirty="0" err="1"/>
              <a:t>js</a:t>
            </a:r>
            <a:r>
              <a:rPr lang="en-CA" dirty="0"/>
              <a:t> plugin.  </a:t>
            </a: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C3069471-DACD-CDD0-9213-AE948DEBE19F}"/>
              </a:ext>
            </a:extLst>
          </p:cNvPr>
          <p:cNvSpPr/>
          <p:nvPr/>
        </p:nvSpPr>
        <p:spPr>
          <a:xfrm>
            <a:off x="1468986" y="5997908"/>
            <a:ext cx="6121722" cy="599047"/>
          </a:xfrm>
          <a:prstGeom prst="wedgeRectCallout">
            <a:avLst>
              <a:gd name="adj1" fmla="val -32495"/>
              <a:gd name="adj2" fmla="val -109831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The text in purple are </a:t>
            </a:r>
            <a:r>
              <a:rPr lang="en-CA" dirty="0" err="1"/>
              <a:t>vga</a:t>
            </a:r>
            <a:r>
              <a:rPr lang="en-CA" dirty="0"/>
              <a:t> tags and this should not be changed (except for the string that you define when importing .</a:t>
            </a:r>
            <a:r>
              <a:rPr lang="en-CA" dirty="0" err="1"/>
              <a:t>js</a:t>
            </a:r>
            <a:r>
              <a:rPr lang="en-CA" dirty="0"/>
              <a:t>)</a:t>
            </a:r>
          </a:p>
        </p:txBody>
      </p: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BE018926-8879-5C77-68E7-65CA77BA0508}"/>
              </a:ext>
            </a:extLst>
          </p:cNvPr>
          <p:cNvSpPr/>
          <p:nvPr/>
        </p:nvSpPr>
        <p:spPr>
          <a:xfrm>
            <a:off x="6689389" y="4213489"/>
            <a:ext cx="5028974" cy="599047"/>
          </a:xfrm>
          <a:prstGeom prst="wedgeRectCallout">
            <a:avLst>
              <a:gd name="adj1" fmla="val -61317"/>
              <a:gd name="adj2" fmla="val 57425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What you define when you are importing .</a:t>
            </a:r>
            <a:r>
              <a:rPr lang="en-CA" dirty="0" err="1"/>
              <a:t>js</a:t>
            </a:r>
            <a:r>
              <a:rPr lang="en-CA" dirty="0"/>
              <a:t> should be the same here.  </a:t>
            </a:r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0360DDA2-82C5-CE3B-D454-80A3A7AA7FCE}"/>
              </a:ext>
            </a:extLst>
          </p:cNvPr>
          <p:cNvSpPr/>
          <p:nvPr/>
        </p:nvSpPr>
        <p:spPr>
          <a:xfrm>
            <a:off x="6689389" y="4207907"/>
            <a:ext cx="5028974" cy="599047"/>
          </a:xfrm>
          <a:prstGeom prst="wedgeRectCallout">
            <a:avLst>
              <a:gd name="adj1" fmla="val -111416"/>
              <a:gd name="adj2" fmla="val -90346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What you define when you are importing .</a:t>
            </a:r>
            <a:r>
              <a:rPr lang="en-CA" dirty="0" err="1"/>
              <a:t>js</a:t>
            </a:r>
            <a:r>
              <a:rPr lang="en-CA" dirty="0"/>
              <a:t> should be the same here.  </a:t>
            </a:r>
          </a:p>
        </p:txBody>
      </p:sp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ABC3ABA3-3746-4CA6-AA10-751D8D7038B8}"/>
              </a:ext>
            </a:extLst>
          </p:cNvPr>
          <p:cNvSpPr/>
          <p:nvPr/>
        </p:nvSpPr>
        <p:spPr>
          <a:xfrm>
            <a:off x="6348921" y="5092537"/>
            <a:ext cx="5655011" cy="823758"/>
          </a:xfrm>
          <a:prstGeom prst="wedgeRectCallout">
            <a:avLst>
              <a:gd name="adj1" fmla="val -66686"/>
              <a:gd name="adj2" fmla="val -13874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Whatever you render in plugin, should be visualized in “sidebar”. There are two other options "hidden" or "main“ that would come up later. Change and see what happens.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BEB2A0-3166-9C78-8FF7-C65587E721E0}"/>
              </a:ext>
            </a:extLst>
          </p:cNvPr>
          <p:cNvSpPr/>
          <p:nvPr/>
        </p:nvSpPr>
        <p:spPr>
          <a:xfrm>
            <a:off x="0" y="6545952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If changes in viz does not show up after you change something in the plugin, then remember to hard reload, or disable cache. Check the code changes in dev mode.</a:t>
            </a:r>
          </a:p>
        </p:txBody>
      </p:sp>
    </p:spTree>
    <p:extLst>
      <p:ext uri="{BB962C8B-B14F-4D97-AF65-F5344CB8AC3E}">
        <p14:creationId xmlns:p14="http://schemas.microsoft.com/office/powerpoint/2010/main" val="3855122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3EECB-A2EE-75C4-4BC9-ABC44C6E9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ABA0F-BF51-177F-5EE7-AB579A03E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18" y="199046"/>
            <a:ext cx="9404723" cy="1400530"/>
          </a:xfrm>
        </p:spPr>
        <p:txBody>
          <a:bodyPr/>
          <a:lstStyle/>
          <a:p>
            <a:r>
              <a:rPr lang="en-US" dirty="0"/>
              <a:t>The Plugin .</a:t>
            </a:r>
            <a:r>
              <a:rPr lang="en-US" dirty="0" err="1"/>
              <a:t>js</a:t>
            </a:r>
            <a:r>
              <a:rPr lang="en-US" dirty="0"/>
              <a:t> code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21D881-95DD-CDB9-FCC5-43982DB82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18" y="952683"/>
            <a:ext cx="10364646" cy="5706271"/>
          </a:xfrm>
          <a:prstGeom prst="rect">
            <a:avLst/>
          </a:prstGeom>
        </p:spPr>
      </p:pic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6E72F543-3813-2434-A946-4DE2958E1225}"/>
              </a:ext>
            </a:extLst>
          </p:cNvPr>
          <p:cNvSpPr/>
          <p:nvPr/>
        </p:nvSpPr>
        <p:spPr>
          <a:xfrm>
            <a:off x="7697570" y="1304759"/>
            <a:ext cx="4164412" cy="956922"/>
          </a:xfrm>
          <a:prstGeom prst="wedgeRectCallout">
            <a:avLst>
              <a:gd name="adj1" fmla="val -72411"/>
              <a:gd name="adj2" fmla="val 26453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Assume all these to be default to create a container where everything of this plugin will be rendered.</a:t>
            </a:r>
          </a:p>
        </p:txBody>
      </p:sp>
      <p:sp>
        <p:nvSpPr>
          <p:cNvPr id="7" name="Double Bracket 6">
            <a:extLst>
              <a:ext uri="{FF2B5EF4-FFF2-40B4-BE49-F238E27FC236}">
                <a16:creationId xmlns:a16="http://schemas.microsoft.com/office/drawing/2014/main" id="{17CF65CA-601B-4034-507A-13CC873A5468}"/>
              </a:ext>
            </a:extLst>
          </p:cNvPr>
          <p:cNvSpPr/>
          <p:nvPr/>
        </p:nvSpPr>
        <p:spPr>
          <a:xfrm>
            <a:off x="564204" y="1304759"/>
            <a:ext cx="6173443" cy="1545445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79C39853-749B-9224-B21E-91BA6CFB2961}"/>
              </a:ext>
            </a:extLst>
          </p:cNvPr>
          <p:cNvSpPr/>
          <p:nvPr/>
        </p:nvSpPr>
        <p:spPr>
          <a:xfrm>
            <a:off x="6488349" y="3202280"/>
            <a:ext cx="5373633" cy="677551"/>
          </a:xfrm>
          <a:prstGeom prst="wedgeRectCallout">
            <a:avLst>
              <a:gd name="adj1" fmla="val -77109"/>
              <a:gd name="adj2" fmla="val 25436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Whatever you write here should show up in the sidebar (assuming your .</a:t>
            </a:r>
            <a:r>
              <a:rPr lang="en-CA" dirty="0" err="1"/>
              <a:t>json</a:t>
            </a:r>
            <a:r>
              <a:rPr lang="en-CA" dirty="0"/>
              <a:t> file mentions “sidebar”) 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E987C4A4-1403-6ED0-ACC3-1917CA322E15}"/>
              </a:ext>
            </a:extLst>
          </p:cNvPr>
          <p:cNvSpPr/>
          <p:nvPr/>
        </p:nvSpPr>
        <p:spPr>
          <a:xfrm>
            <a:off x="6352162" y="4115576"/>
            <a:ext cx="5509820" cy="677551"/>
          </a:xfrm>
          <a:prstGeom prst="wedgeRectCallout">
            <a:avLst>
              <a:gd name="adj1" fmla="val -85937"/>
              <a:gd name="adj2" fmla="val 31179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You can write a </a:t>
            </a:r>
            <a:r>
              <a:rPr lang="en-CA" dirty="0" err="1"/>
              <a:t>javascript</a:t>
            </a:r>
            <a:r>
              <a:rPr lang="en-CA" dirty="0"/>
              <a:t> function and call it here. Whatever you render will show up in the sidebar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F8A70F30-FB86-1AF0-1BE1-2AC77178B82B}"/>
              </a:ext>
            </a:extLst>
          </p:cNvPr>
          <p:cNvSpPr/>
          <p:nvPr/>
        </p:nvSpPr>
        <p:spPr>
          <a:xfrm>
            <a:off x="7697570" y="5175014"/>
            <a:ext cx="4164411" cy="730303"/>
          </a:xfrm>
          <a:prstGeom prst="wedgeRectCallout">
            <a:avLst>
              <a:gd name="adj1" fmla="val -157403"/>
              <a:gd name="adj2" fmla="val 117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dirty="0"/>
              <a:t>But how do I write this code? I only know d3 and very basics of </a:t>
            </a:r>
            <a:r>
              <a:rPr lang="en-CA" sz="2000" dirty="0" err="1"/>
              <a:t>javascript</a:t>
            </a:r>
            <a:r>
              <a:rPr lang="en-CA" sz="2000" dirty="0"/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1816B5-28FD-D55A-3AB3-53106A96507D}"/>
              </a:ext>
            </a:extLst>
          </p:cNvPr>
          <p:cNvSpPr/>
          <p:nvPr/>
        </p:nvSpPr>
        <p:spPr>
          <a:xfrm>
            <a:off x="0" y="6545952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If changes in viz does not show up after you change something in the plugin, then remember to hard reload, or disable cache. Check the code changes in dev mode.</a:t>
            </a:r>
          </a:p>
        </p:txBody>
      </p:sp>
    </p:spTree>
    <p:extLst>
      <p:ext uri="{BB962C8B-B14F-4D97-AF65-F5344CB8AC3E}">
        <p14:creationId xmlns:p14="http://schemas.microsoft.com/office/powerpoint/2010/main" val="3066747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7C704-E69B-518B-B110-72F92357A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1080D-7036-7BEB-2F25-3647ABD6A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18" y="199046"/>
            <a:ext cx="9404723" cy="1400530"/>
          </a:xfrm>
        </p:spPr>
        <p:txBody>
          <a:bodyPr/>
          <a:lstStyle/>
          <a:p>
            <a:r>
              <a:rPr lang="en-US" dirty="0"/>
              <a:t>The Plugin .</a:t>
            </a:r>
            <a:r>
              <a:rPr lang="en-US" dirty="0" err="1"/>
              <a:t>js</a:t>
            </a:r>
            <a:r>
              <a:rPr lang="en-US" dirty="0"/>
              <a:t> code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C590A6-E391-E60D-C75E-50FE067C0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18" y="952683"/>
            <a:ext cx="10364646" cy="5706271"/>
          </a:xfrm>
          <a:prstGeom prst="rect">
            <a:avLst/>
          </a:prstGeom>
        </p:spPr>
      </p:pic>
      <p:sp>
        <p:nvSpPr>
          <p:cNvPr id="7" name="Double Bracket 6">
            <a:extLst>
              <a:ext uri="{FF2B5EF4-FFF2-40B4-BE49-F238E27FC236}">
                <a16:creationId xmlns:a16="http://schemas.microsoft.com/office/drawing/2014/main" id="{ECB099FD-520D-A39F-20DF-E8D37FBFE9C9}"/>
              </a:ext>
            </a:extLst>
          </p:cNvPr>
          <p:cNvSpPr/>
          <p:nvPr/>
        </p:nvSpPr>
        <p:spPr>
          <a:xfrm>
            <a:off x="564204" y="1304759"/>
            <a:ext cx="6173443" cy="1545445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E47AB6C5-8AD2-5AEA-8DD2-70CE63B46D83}"/>
              </a:ext>
            </a:extLst>
          </p:cNvPr>
          <p:cNvSpPr/>
          <p:nvPr/>
        </p:nvSpPr>
        <p:spPr>
          <a:xfrm>
            <a:off x="6488349" y="3202280"/>
            <a:ext cx="5373633" cy="677551"/>
          </a:xfrm>
          <a:prstGeom prst="wedgeRectCallout">
            <a:avLst>
              <a:gd name="adj1" fmla="val -77109"/>
              <a:gd name="adj2" fmla="val 25436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Whatever you write here should show up in the sidebar (assuming your .</a:t>
            </a:r>
            <a:r>
              <a:rPr lang="en-CA" dirty="0" err="1"/>
              <a:t>json</a:t>
            </a:r>
            <a:r>
              <a:rPr lang="en-CA" dirty="0"/>
              <a:t> file mentions “sidebar”) 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7BC2C55C-271F-7C7B-0D3D-59E317AEDC85}"/>
              </a:ext>
            </a:extLst>
          </p:cNvPr>
          <p:cNvSpPr/>
          <p:nvPr/>
        </p:nvSpPr>
        <p:spPr>
          <a:xfrm>
            <a:off x="6352162" y="4115576"/>
            <a:ext cx="5509820" cy="677551"/>
          </a:xfrm>
          <a:prstGeom prst="wedgeRectCallout">
            <a:avLst>
              <a:gd name="adj1" fmla="val -85937"/>
              <a:gd name="adj2" fmla="val 31179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You can write a </a:t>
            </a:r>
            <a:r>
              <a:rPr lang="en-CA" dirty="0" err="1"/>
              <a:t>javascript</a:t>
            </a:r>
            <a:r>
              <a:rPr lang="en-CA" dirty="0"/>
              <a:t> function and call it here. Whatever you render will show up in the sidebar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C2F99B7E-8163-5E8C-C13E-15D1968A5F3B}"/>
              </a:ext>
            </a:extLst>
          </p:cNvPr>
          <p:cNvSpPr/>
          <p:nvPr/>
        </p:nvSpPr>
        <p:spPr>
          <a:xfrm>
            <a:off x="729574" y="5175014"/>
            <a:ext cx="11132407" cy="1070143"/>
          </a:xfrm>
          <a:prstGeom prst="wedgeRectCallout">
            <a:avLst>
              <a:gd name="adj1" fmla="val -29629"/>
              <a:gd name="adj2" fmla="val -63191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000" dirty="0"/>
          </a:p>
          <a:p>
            <a:pPr algn="ctr"/>
            <a:r>
              <a:rPr lang="en-CA" sz="2000" dirty="0"/>
              <a:t>If you want to write a d3 function to create circles, </a:t>
            </a:r>
            <a:r>
              <a:rPr lang="en-CA" sz="2000" dirty="0">
                <a:solidFill>
                  <a:srgbClr val="FF0000"/>
                </a:solidFill>
              </a:rPr>
              <a:t>this will NOT work </a:t>
            </a:r>
            <a:r>
              <a:rPr lang="en-CA" sz="2000" dirty="0"/>
              <a:t>yet but we will show how to do it</a:t>
            </a:r>
          </a:p>
          <a:p>
            <a:pPr algn="ctr"/>
            <a:r>
              <a:rPr lang="en-CA" sz="2000" dirty="0"/>
              <a:t>		</a:t>
            </a:r>
            <a:r>
              <a:rPr lang="en-CA" sz="1600" dirty="0"/>
              <a:t>var </a:t>
            </a:r>
            <a:r>
              <a:rPr lang="en-CA" sz="1600" dirty="0" err="1"/>
              <a:t>svg</a:t>
            </a:r>
            <a:r>
              <a:rPr lang="en-CA" sz="1600" dirty="0"/>
              <a:t> = d3.select("body").append("</a:t>
            </a:r>
            <a:r>
              <a:rPr lang="en-CA" sz="1600" dirty="0" err="1"/>
              <a:t>svg</a:t>
            </a:r>
            <a:r>
              <a:rPr lang="en-CA" sz="1600" dirty="0"/>
              <a:t>").</a:t>
            </a:r>
            <a:r>
              <a:rPr lang="en-CA" sz="1600" dirty="0" err="1"/>
              <a:t>attr</a:t>
            </a:r>
            <a:r>
              <a:rPr lang="en-CA" sz="1600" dirty="0"/>
              <a:t>("width", 200).</a:t>
            </a:r>
            <a:r>
              <a:rPr lang="en-CA" sz="1600" dirty="0" err="1"/>
              <a:t>attr</a:t>
            </a:r>
            <a:r>
              <a:rPr lang="en-CA" sz="1600" dirty="0"/>
              <a:t>("height", 200);		</a:t>
            </a:r>
            <a:r>
              <a:rPr lang="en-CA" sz="1600" dirty="0" err="1"/>
              <a:t>svg.append</a:t>
            </a:r>
            <a:r>
              <a:rPr lang="en-CA" sz="1600" dirty="0"/>
              <a:t>('circle').</a:t>
            </a:r>
            <a:r>
              <a:rPr lang="en-CA" sz="1600" dirty="0" err="1"/>
              <a:t>attr</a:t>
            </a:r>
            <a:r>
              <a:rPr lang="en-CA" sz="1600" dirty="0"/>
              <a:t>('cx', 100).</a:t>
            </a:r>
            <a:r>
              <a:rPr lang="en-CA" sz="1600" dirty="0" err="1"/>
              <a:t>attr</a:t>
            </a:r>
            <a:r>
              <a:rPr lang="en-CA" sz="1600" dirty="0"/>
              <a:t>('cy', 100).</a:t>
            </a:r>
            <a:r>
              <a:rPr lang="en-CA" sz="1600" dirty="0" err="1"/>
              <a:t>attr</a:t>
            </a:r>
            <a:r>
              <a:rPr lang="en-CA" sz="1600" dirty="0"/>
              <a:t>('r', 50).</a:t>
            </a:r>
            <a:r>
              <a:rPr lang="en-CA" sz="1600" dirty="0" err="1"/>
              <a:t>attr</a:t>
            </a:r>
            <a:r>
              <a:rPr lang="en-CA" sz="1600" dirty="0"/>
              <a:t>('stroke', 'black’);</a:t>
            </a:r>
          </a:p>
          <a:p>
            <a:pPr algn="ctr"/>
            <a:r>
              <a:rPr lang="en-CA" sz="2000" dirty="0"/>
              <a:t> </a:t>
            </a: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DFF77192-8636-2427-1857-E7B2CA9DF066}"/>
              </a:ext>
            </a:extLst>
          </p:cNvPr>
          <p:cNvSpPr/>
          <p:nvPr/>
        </p:nvSpPr>
        <p:spPr>
          <a:xfrm>
            <a:off x="7697570" y="1304759"/>
            <a:ext cx="4164412" cy="956922"/>
          </a:xfrm>
          <a:prstGeom prst="wedgeRectCallout">
            <a:avLst>
              <a:gd name="adj1" fmla="val -72411"/>
              <a:gd name="adj2" fmla="val 26453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Assume all these to be default to create a container where everything of this plugin will be rendered.</a:t>
            </a:r>
          </a:p>
        </p:txBody>
      </p:sp>
    </p:spTree>
    <p:extLst>
      <p:ext uri="{BB962C8B-B14F-4D97-AF65-F5344CB8AC3E}">
        <p14:creationId xmlns:p14="http://schemas.microsoft.com/office/powerpoint/2010/main" val="3326916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7C8D0-8847-E670-EDD2-045BA2567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46AB2-1250-D2C8-3487-60AC3EE05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455" y="2524709"/>
            <a:ext cx="5887396" cy="1400530"/>
          </a:xfrm>
        </p:spPr>
        <p:txBody>
          <a:bodyPr/>
          <a:lstStyle/>
          <a:p>
            <a:r>
              <a:rPr lang="en-US" dirty="0"/>
              <a:t>TASK 2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31495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19DA9-A65D-7F68-6FDE-977A237EB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3CE32-74F8-CC8B-437A-191AC2DDD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html and .</a:t>
            </a:r>
            <a:r>
              <a:rPr lang="en-US" dirty="0" err="1"/>
              <a:t>json</a:t>
            </a:r>
            <a:r>
              <a:rPr lang="en-US" dirty="0"/>
              <a:t> files are the same as TASK1. The only change is in the .</a:t>
            </a:r>
            <a:r>
              <a:rPr lang="en-US" dirty="0" err="1"/>
              <a:t>js</a:t>
            </a:r>
            <a:r>
              <a:rPr lang="en-US" dirty="0"/>
              <a:t> file</a:t>
            </a:r>
            <a:endParaRPr lang="en-C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4B32DA-0A0B-C742-6488-FA32EBDFC130}"/>
              </a:ext>
            </a:extLst>
          </p:cNvPr>
          <p:cNvSpPr/>
          <p:nvPr/>
        </p:nvSpPr>
        <p:spPr>
          <a:xfrm>
            <a:off x="646111" y="1853248"/>
            <a:ext cx="9089410" cy="1703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Navigate to </a:t>
            </a:r>
            <a:r>
              <a:rPr lang="en-CA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2_tile-layer/ </a:t>
            </a:r>
            <a:r>
              <a:rPr lang="en-CA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and edit the .</a:t>
            </a:r>
            <a:r>
              <a:rPr lang="en-CA" sz="2400" dirty="0" err="1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js</a:t>
            </a:r>
            <a:r>
              <a:rPr lang="en-CA" sz="24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file as follows.</a:t>
            </a:r>
          </a:p>
          <a:p>
            <a:pPr marL="34290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// TODO 1: Uncomment the following line         this.#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createAndAddATileLayerIntoMap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();</a:t>
            </a:r>
            <a:endParaRPr lang="en-CA" sz="200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34290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This will show up a map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270F4D-E03E-0DD9-0E2C-F92DFA50964A}"/>
              </a:ext>
            </a:extLst>
          </p:cNvPr>
          <p:cNvSpPr/>
          <p:nvPr/>
        </p:nvSpPr>
        <p:spPr>
          <a:xfrm>
            <a:off x="0" y="6545952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If changes in viz does not show up after you change something in the plugin, then remember to hard reload, or disable cache. Check the code changes in dev mode.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FC991B-D572-6DAF-4E3C-7DC89648C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816" y="3207029"/>
            <a:ext cx="6785669" cy="3338923"/>
          </a:xfrm>
          <a:prstGeom prst="round2DiagRect">
            <a:avLst>
              <a:gd name="adj1" fmla="val 8509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5865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BAD14-2251-238C-F19A-426535130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C8D2A-B920-B891-8BC9-78FE4F369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code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2872C3-F7EF-4182-31AA-A89FFC66A0FA}"/>
              </a:ext>
            </a:extLst>
          </p:cNvPr>
          <p:cNvSpPr/>
          <p:nvPr/>
        </p:nvSpPr>
        <p:spPr>
          <a:xfrm>
            <a:off x="646111" y="1346524"/>
            <a:ext cx="90894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CA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config.json</a:t>
            </a:r>
            <a:endParaRPr lang="en-CA" sz="240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F88EFF-A5B8-2B91-77E2-9EC945232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026" y="1889802"/>
            <a:ext cx="6925642" cy="4515480"/>
          </a:xfrm>
          <a:prstGeom prst="rect">
            <a:avLst/>
          </a:prstGeom>
        </p:spPr>
      </p:pic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FE893006-4CC9-103D-F486-46C346F350EA}"/>
              </a:ext>
            </a:extLst>
          </p:cNvPr>
          <p:cNvSpPr/>
          <p:nvPr/>
        </p:nvSpPr>
        <p:spPr>
          <a:xfrm>
            <a:off x="6643991" y="312049"/>
            <a:ext cx="5029200" cy="3116952"/>
          </a:xfrm>
          <a:prstGeom prst="wedgeRectCallout">
            <a:avLst>
              <a:gd name="adj1" fmla="val -96038"/>
              <a:gd name="adj2" fmla="val 27602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/>
              <a:t>These are map properties. You now can change this to [56,-106] for centering the map on Canada. You can also change this to other [</a:t>
            </a:r>
            <a:r>
              <a:rPr lang="en-CA" dirty="0" err="1"/>
              <a:t>lat</a:t>
            </a:r>
            <a:r>
              <a:rPr lang="en-CA" dirty="0"/>
              <a:t>, long]</a:t>
            </a:r>
          </a:p>
          <a:p>
            <a:r>
              <a:rPr lang="en-CA" dirty="0">
                <a:hlinkClick r:id="rId4"/>
              </a:rPr>
              <a:t>https://dwtkns.com/pointplotter/</a:t>
            </a:r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You can also try to change zoom – typically between 1 to 12</a:t>
            </a:r>
          </a:p>
          <a:p>
            <a:endParaRPr lang="en-CA" dirty="0"/>
          </a:p>
          <a:p>
            <a:endParaRPr lang="en-C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07B5D7-F2B5-1F61-5F3E-827ECF7450C5}"/>
              </a:ext>
            </a:extLst>
          </p:cNvPr>
          <p:cNvSpPr/>
          <p:nvPr/>
        </p:nvSpPr>
        <p:spPr>
          <a:xfrm>
            <a:off x="0" y="6545952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If changes in viz does not show up after you change something in the plugin, then remember to hard reload, or disable cache. Check the code changes in dev mode.</a:t>
            </a:r>
          </a:p>
        </p:txBody>
      </p:sp>
    </p:spTree>
    <p:extLst>
      <p:ext uri="{BB962C8B-B14F-4D97-AF65-F5344CB8AC3E}">
        <p14:creationId xmlns:p14="http://schemas.microsoft.com/office/powerpoint/2010/main" val="1512096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F47E9-369D-DD3B-4347-8BF197765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3DE91-F2D6-B27A-DE05-2730474DF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Task2: Plugin .</a:t>
            </a:r>
            <a:r>
              <a:rPr lang="en-US" dirty="0" err="1"/>
              <a:t>js</a:t>
            </a:r>
            <a:r>
              <a:rPr lang="en-US" dirty="0"/>
              <a:t> code</a:t>
            </a:r>
            <a:endParaRPr lang="en-C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1A0F15-BDC8-513E-1B39-609B19FD4313}"/>
              </a:ext>
            </a:extLst>
          </p:cNvPr>
          <p:cNvSpPr/>
          <p:nvPr/>
        </p:nvSpPr>
        <p:spPr>
          <a:xfrm>
            <a:off x="646110" y="1152983"/>
            <a:ext cx="11075719" cy="1272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There is a popular map rendering library called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leaflet</a:t>
            </a:r>
          </a:p>
          <a:p>
            <a:pPr marL="34290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VGA 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is built on top of leaflet and you can access all functionalities of leaflet by using </a:t>
            </a:r>
            <a:r>
              <a:rPr lang="en-US" sz="2000" b="1" dirty="0" err="1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this.leaflet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  <a:p>
            <a:pPr marL="34290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Here we use the leaflet to create the 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19A6C0-C19F-0564-D9DB-DD5449F704EA}"/>
              </a:ext>
            </a:extLst>
          </p:cNvPr>
          <p:cNvSpPr/>
          <p:nvPr/>
        </p:nvSpPr>
        <p:spPr>
          <a:xfrm>
            <a:off x="0" y="6545952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If changes in viz does not show up after you change something in the plugin, then remember to hard reload, or disable cache. Check the code changes in dev mode.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2A3202-C3D4-6DDF-262D-5BA001BF8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24" y="2506788"/>
            <a:ext cx="10221751" cy="4039164"/>
          </a:xfrm>
          <a:prstGeom prst="rect">
            <a:avLst/>
          </a:prstGeom>
        </p:spPr>
      </p:pic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60102E9B-8ACD-2A5A-5C03-1B30C5DCD3B6}"/>
              </a:ext>
            </a:extLst>
          </p:cNvPr>
          <p:cNvSpPr/>
          <p:nvPr/>
        </p:nvSpPr>
        <p:spPr>
          <a:xfrm>
            <a:off x="6643991" y="2028471"/>
            <a:ext cx="5029200" cy="1400529"/>
          </a:xfrm>
          <a:prstGeom prst="wedgeRectCallout">
            <a:avLst>
              <a:gd name="adj1" fmla="val -54259"/>
              <a:gd name="adj2" fmla="val 87330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OpenStreetMap is a free, open map database updated and maintained by a community of volunteers via open collaboration, which can be accessed in this link. We also add proper attribution.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7CD0CAC8-3736-419E-637C-B19F7D831390}"/>
              </a:ext>
            </a:extLst>
          </p:cNvPr>
          <p:cNvSpPr/>
          <p:nvPr/>
        </p:nvSpPr>
        <p:spPr>
          <a:xfrm>
            <a:off x="6643992" y="4669276"/>
            <a:ext cx="5029200" cy="872801"/>
          </a:xfrm>
          <a:prstGeom prst="wedgeRectCallout">
            <a:avLst>
              <a:gd name="adj1" fmla="val -100151"/>
              <a:gd name="adj2" fmla="val 21923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You can use the </a:t>
            </a:r>
            <a:r>
              <a:rPr lang="en-US" dirty="0" err="1"/>
              <a:t>addMapLayerDelegate</a:t>
            </a:r>
            <a:r>
              <a:rPr lang="en-US" dirty="0"/>
              <a:t> function to add the map and you can specify the location using three parameters: title, type of layer, active or not</a:t>
            </a: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D6A24579-4AFD-38F9-98D5-A75289A9B0C7}"/>
              </a:ext>
            </a:extLst>
          </p:cNvPr>
          <p:cNvSpPr/>
          <p:nvPr/>
        </p:nvSpPr>
        <p:spPr>
          <a:xfrm>
            <a:off x="8492247" y="5754814"/>
            <a:ext cx="3180944" cy="709476"/>
          </a:xfrm>
          <a:prstGeom prst="wedgeRectCallout">
            <a:avLst>
              <a:gd name="adj1" fmla="val -63760"/>
              <a:gd name="adj2" fmla="val -33804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Change to overlay and see that on the top right corner you will have a checkbox to select the layer</a:t>
            </a: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043DAFA4-8554-3DD1-B5FA-CDAC2D35B418}"/>
              </a:ext>
            </a:extLst>
          </p:cNvPr>
          <p:cNvSpPr/>
          <p:nvPr/>
        </p:nvSpPr>
        <p:spPr>
          <a:xfrm>
            <a:off x="1575882" y="6272876"/>
            <a:ext cx="6450048" cy="307777"/>
          </a:xfrm>
          <a:prstGeom prst="wedgeRectCallout">
            <a:avLst>
              <a:gd name="adj1" fmla="val -38985"/>
              <a:gd name="adj2" fmla="val -91043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Making this false avoids rendering the layer unless selected by user</a:t>
            </a:r>
          </a:p>
        </p:txBody>
      </p:sp>
    </p:spTree>
    <p:extLst>
      <p:ext uri="{BB962C8B-B14F-4D97-AF65-F5344CB8AC3E}">
        <p14:creationId xmlns:p14="http://schemas.microsoft.com/office/powerpoint/2010/main" val="940040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32634-A2E6-7E51-D248-34EF6513D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C8C7-5581-E63E-E1C2-FC8BF5189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18" y="199046"/>
            <a:ext cx="9404723" cy="1400530"/>
          </a:xfrm>
        </p:spPr>
        <p:txBody>
          <a:bodyPr/>
          <a:lstStyle/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F65782-1950-9F37-2335-EEF5DBC81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18" y="952683"/>
            <a:ext cx="10364646" cy="5706271"/>
          </a:xfrm>
          <a:prstGeom prst="rect">
            <a:avLst/>
          </a:prstGeom>
        </p:spPr>
      </p:pic>
      <p:sp>
        <p:nvSpPr>
          <p:cNvPr id="7" name="Double Bracket 6">
            <a:extLst>
              <a:ext uri="{FF2B5EF4-FFF2-40B4-BE49-F238E27FC236}">
                <a16:creationId xmlns:a16="http://schemas.microsoft.com/office/drawing/2014/main" id="{66B5A93D-1612-EB09-884C-13979E1B7334}"/>
              </a:ext>
            </a:extLst>
          </p:cNvPr>
          <p:cNvSpPr/>
          <p:nvPr/>
        </p:nvSpPr>
        <p:spPr>
          <a:xfrm>
            <a:off x="564204" y="1304759"/>
            <a:ext cx="6173443" cy="1545445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6E4D1BF2-C24B-BDDC-4746-8D672F724159}"/>
              </a:ext>
            </a:extLst>
          </p:cNvPr>
          <p:cNvSpPr/>
          <p:nvPr/>
        </p:nvSpPr>
        <p:spPr>
          <a:xfrm>
            <a:off x="6488349" y="3202280"/>
            <a:ext cx="5373633" cy="677551"/>
          </a:xfrm>
          <a:prstGeom prst="wedgeRectCallout">
            <a:avLst>
              <a:gd name="adj1" fmla="val -77109"/>
              <a:gd name="adj2" fmla="val 25436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Whatever you write here should show up in the sidebar (assuming your .</a:t>
            </a:r>
            <a:r>
              <a:rPr lang="en-CA" dirty="0" err="1"/>
              <a:t>json</a:t>
            </a:r>
            <a:r>
              <a:rPr lang="en-CA" dirty="0"/>
              <a:t> file mentions “sidebar”) 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CB5CBFDE-7261-D602-06DF-C79F33131A27}"/>
              </a:ext>
            </a:extLst>
          </p:cNvPr>
          <p:cNvSpPr/>
          <p:nvPr/>
        </p:nvSpPr>
        <p:spPr>
          <a:xfrm>
            <a:off x="6352162" y="4115576"/>
            <a:ext cx="5509820" cy="677551"/>
          </a:xfrm>
          <a:prstGeom prst="wedgeRectCallout">
            <a:avLst>
              <a:gd name="adj1" fmla="val -85937"/>
              <a:gd name="adj2" fmla="val 31179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You can write a </a:t>
            </a:r>
            <a:r>
              <a:rPr lang="en-CA" dirty="0" err="1"/>
              <a:t>javascript</a:t>
            </a:r>
            <a:r>
              <a:rPr lang="en-CA" dirty="0"/>
              <a:t> function and call it here. Whatever you render will show up in the sidebar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0A7BEF7A-F15B-2F21-EA8E-B895B71F8C29}"/>
              </a:ext>
            </a:extLst>
          </p:cNvPr>
          <p:cNvSpPr/>
          <p:nvPr/>
        </p:nvSpPr>
        <p:spPr>
          <a:xfrm>
            <a:off x="729574" y="5175014"/>
            <a:ext cx="11132407" cy="1070143"/>
          </a:xfrm>
          <a:prstGeom prst="wedgeRectCallout">
            <a:avLst>
              <a:gd name="adj1" fmla="val -29629"/>
              <a:gd name="adj2" fmla="val -63191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000" dirty="0"/>
          </a:p>
          <a:p>
            <a:pPr algn="ctr"/>
            <a:r>
              <a:rPr lang="en-CA" sz="2000" dirty="0"/>
              <a:t>If you want to write a d3 function to create circles, </a:t>
            </a:r>
            <a:r>
              <a:rPr lang="en-CA" sz="2000" dirty="0">
                <a:solidFill>
                  <a:srgbClr val="FF0000"/>
                </a:solidFill>
              </a:rPr>
              <a:t>this will NOT work </a:t>
            </a:r>
            <a:r>
              <a:rPr lang="en-CA" sz="2000" dirty="0"/>
              <a:t>yet but we will show how to do it</a:t>
            </a:r>
          </a:p>
          <a:p>
            <a:pPr algn="ctr"/>
            <a:r>
              <a:rPr lang="en-CA" sz="2000" dirty="0"/>
              <a:t>		</a:t>
            </a:r>
            <a:r>
              <a:rPr lang="en-CA" sz="1600" dirty="0"/>
              <a:t>var </a:t>
            </a:r>
            <a:r>
              <a:rPr lang="en-CA" sz="1600" dirty="0" err="1"/>
              <a:t>svg</a:t>
            </a:r>
            <a:r>
              <a:rPr lang="en-CA" sz="1600" dirty="0"/>
              <a:t> = d3.select("body").append("</a:t>
            </a:r>
            <a:r>
              <a:rPr lang="en-CA" sz="1600" dirty="0" err="1"/>
              <a:t>svg</a:t>
            </a:r>
            <a:r>
              <a:rPr lang="en-CA" sz="1600" dirty="0"/>
              <a:t>").</a:t>
            </a:r>
            <a:r>
              <a:rPr lang="en-CA" sz="1600" dirty="0" err="1"/>
              <a:t>attr</a:t>
            </a:r>
            <a:r>
              <a:rPr lang="en-CA" sz="1600" dirty="0"/>
              <a:t>("width", 200).</a:t>
            </a:r>
            <a:r>
              <a:rPr lang="en-CA" sz="1600" dirty="0" err="1"/>
              <a:t>attr</a:t>
            </a:r>
            <a:r>
              <a:rPr lang="en-CA" sz="1600" dirty="0"/>
              <a:t>("height", 200);		</a:t>
            </a:r>
            <a:r>
              <a:rPr lang="en-CA" sz="1600" dirty="0" err="1"/>
              <a:t>svg.append</a:t>
            </a:r>
            <a:r>
              <a:rPr lang="en-CA" sz="1600" dirty="0"/>
              <a:t>('circle').</a:t>
            </a:r>
            <a:r>
              <a:rPr lang="en-CA" sz="1600" dirty="0" err="1"/>
              <a:t>attr</a:t>
            </a:r>
            <a:r>
              <a:rPr lang="en-CA" sz="1600" dirty="0"/>
              <a:t>('cx', 100).</a:t>
            </a:r>
            <a:r>
              <a:rPr lang="en-CA" sz="1600" dirty="0" err="1"/>
              <a:t>attr</a:t>
            </a:r>
            <a:r>
              <a:rPr lang="en-CA" sz="1600" dirty="0"/>
              <a:t>('cy', 100).</a:t>
            </a:r>
            <a:r>
              <a:rPr lang="en-CA" sz="1600" dirty="0" err="1"/>
              <a:t>attr</a:t>
            </a:r>
            <a:r>
              <a:rPr lang="en-CA" sz="1600" dirty="0"/>
              <a:t>('r', 50).</a:t>
            </a:r>
            <a:r>
              <a:rPr lang="en-CA" sz="1600" dirty="0" err="1"/>
              <a:t>attr</a:t>
            </a:r>
            <a:r>
              <a:rPr lang="en-CA" sz="1600" dirty="0"/>
              <a:t>('stroke', 'black’);</a:t>
            </a:r>
          </a:p>
          <a:p>
            <a:pPr algn="ctr"/>
            <a:r>
              <a:rPr lang="en-CA" sz="2000" dirty="0"/>
              <a:t> </a:t>
            </a: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7B5331C2-EDFA-7ADE-C75E-69A018B281D7}"/>
              </a:ext>
            </a:extLst>
          </p:cNvPr>
          <p:cNvSpPr/>
          <p:nvPr/>
        </p:nvSpPr>
        <p:spPr>
          <a:xfrm>
            <a:off x="7697570" y="1304759"/>
            <a:ext cx="4164412" cy="956922"/>
          </a:xfrm>
          <a:prstGeom prst="wedgeRectCallout">
            <a:avLst>
              <a:gd name="adj1" fmla="val -72411"/>
              <a:gd name="adj2" fmla="val 26453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Assume all these to be default to create a container where everything of this plugin will be rendered.</a:t>
            </a:r>
          </a:p>
        </p:txBody>
      </p:sp>
    </p:spTree>
    <p:extLst>
      <p:ext uri="{BB962C8B-B14F-4D97-AF65-F5344CB8AC3E}">
        <p14:creationId xmlns:p14="http://schemas.microsoft.com/office/powerpoint/2010/main" val="2311013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27D6D-35B4-C3FB-FEE5-72F8E7418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4C88E-7B41-B350-806C-A9F452AB0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455" y="2524709"/>
            <a:ext cx="5887396" cy="1400530"/>
          </a:xfrm>
        </p:spPr>
        <p:txBody>
          <a:bodyPr/>
          <a:lstStyle/>
          <a:p>
            <a:r>
              <a:rPr lang="en-US" dirty="0"/>
              <a:t>TASK 3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06829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B5CFA-28AA-FEFF-C767-BB2DEB648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DD2C6-A3B2-FE3E-0FBD-D00CAE94D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71801"/>
          </a:xfrm>
        </p:spPr>
        <p:txBody>
          <a:bodyPr/>
          <a:lstStyle/>
          <a:p>
            <a:r>
              <a:rPr lang="en-US" sz="3600" dirty="0"/>
              <a:t>This task shows how you can specify properties in .</a:t>
            </a:r>
            <a:r>
              <a:rPr lang="en-US" sz="3600" dirty="0" err="1"/>
              <a:t>json</a:t>
            </a:r>
            <a:r>
              <a:rPr lang="en-US" sz="3600" dirty="0"/>
              <a:t> file and access them in .</a:t>
            </a:r>
            <a:r>
              <a:rPr lang="en-US" sz="3600" dirty="0" err="1"/>
              <a:t>js</a:t>
            </a:r>
            <a:r>
              <a:rPr lang="en-US" sz="3600" dirty="0"/>
              <a:t> file</a:t>
            </a:r>
            <a:br>
              <a:rPr lang="en-US" sz="3600" dirty="0"/>
            </a:br>
            <a:br>
              <a:rPr lang="en-US" sz="2000" dirty="0"/>
            </a:br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Navigate to </a:t>
            </a:r>
            <a:r>
              <a:rPr lang="en-CA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3_passing-props/ </a:t>
            </a:r>
            <a:br>
              <a:rPr lang="en-CA" sz="36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3600" dirty="0"/>
              <a:t>The output will be the same as Task 2</a:t>
            </a:r>
            <a:endParaRPr lang="en-CA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908AA5-655D-2B23-3A2D-E1D5DF497FDB}"/>
              </a:ext>
            </a:extLst>
          </p:cNvPr>
          <p:cNvSpPr/>
          <p:nvPr/>
        </p:nvSpPr>
        <p:spPr>
          <a:xfrm>
            <a:off x="0" y="6545952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If changes in viz does not show up after you change something in the plugin, then remember to hard reload, or disable cache. Check the code changes in dev mode.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768E6E-3BE6-7BFC-443E-0186E85E5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413" y="3073940"/>
            <a:ext cx="5666203" cy="2885497"/>
          </a:xfrm>
          <a:prstGeom prst="round2DiagRect">
            <a:avLst>
              <a:gd name="adj1" fmla="val 8509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7806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AE13B-43AD-8D88-DE79-0672C2F1D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0A46E-12B5-45F1-4CAB-5B73E43C3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018" y="225601"/>
            <a:ext cx="9404723" cy="1171801"/>
          </a:xfrm>
        </p:spPr>
        <p:txBody>
          <a:bodyPr/>
          <a:lstStyle/>
          <a:p>
            <a:r>
              <a:rPr lang="en-US" sz="3200" dirty="0"/>
              <a:t>We now provide all properties in .</a:t>
            </a:r>
            <a:r>
              <a:rPr lang="en-US" sz="3200" dirty="0" err="1"/>
              <a:t>json</a:t>
            </a:r>
            <a:r>
              <a:rPr lang="en-US" sz="3200" dirty="0"/>
              <a:t> file</a:t>
            </a:r>
            <a:br>
              <a:rPr lang="en-US" sz="3200" dirty="0"/>
            </a:br>
            <a:r>
              <a:rPr lang="en-US" sz="3200" dirty="0"/>
              <a:t>and use them in .</a:t>
            </a:r>
            <a:r>
              <a:rPr lang="en-US" sz="3200" dirty="0" err="1"/>
              <a:t>js</a:t>
            </a:r>
            <a:r>
              <a:rPr lang="en-US" sz="3200" dirty="0"/>
              <a:t> file as needed</a:t>
            </a:r>
            <a:endParaRPr lang="en-CA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7AF2A3-D630-6750-FF6D-1B5670B8815D}"/>
              </a:ext>
            </a:extLst>
          </p:cNvPr>
          <p:cNvSpPr/>
          <p:nvPr/>
        </p:nvSpPr>
        <p:spPr>
          <a:xfrm>
            <a:off x="0" y="6545952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If changes in viz does not show up after you change something in the plugin, then remember to hard reload, or disable cache. Check the code changes in dev mode.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F8E8BB-46FA-BCC0-512D-CC46672AF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18" y="1397402"/>
            <a:ext cx="11383964" cy="4515480"/>
          </a:xfrm>
          <a:prstGeom prst="rect">
            <a:avLst/>
          </a:prstGeom>
        </p:spPr>
      </p:pic>
      <p:sp>
        <p:nvSpPr>
          <p:cNvPr id="8" name="Double Bracket 7">
            <a:extLst>
              <a:ext uri="{FF2B5EF4-FFF2-40B4-BE49-F238E27FC236}">
                <a16:creationId xmlns:a16="http://schemas.microsoft.com/office/drawing/2014/main" id="{529F7F12-7EE6-2914-B0CD-6834CE364CB5}"/>
              </a:ext>
            </a:extLst>
          </p:cNvPr>
          <p:cNvSpPr/>
          <p:nvPr/>
        </p:nvSpPr>
        <p:spPr>
          <a:xfrm>
            <a:off x="875489" y="3655142"/>
            <a:ext cx="10817158" cy="1588067"/>
          </a:xfrm>
          <a:prstGeom prst="bracketPair">
            <a:avLst>
              <a:gd name="adj" fmla="val 5029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39B72607-337A-3903-C8B2-D94DDFE1E3F7}"/>
              </a:ext>
            </a:extLst>
          </p:cNvPr>
          <p:cNvSpPr/>
          <p:nvPr/>
        </p:nvSpPr>
        <p:spPr>
          <a:xfrm>
            <a:off x="6643991" y="2028471"/>
            <a:ext cx="5029200" cy="1400529"/>
          </a:xfrm>
          <a:prstGeom prst="wedgeRectCallout">
            <a:avLst>
              <a:gd name="adj1" fmla="val -104662"/>
              <a:gd name="adj2" fmla="val 82371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var(--fontStack-monospace, ui-monospace, SFMono-Regular, SF Mono, Menlo, Consolas, Liberation Mono, monospace)"/>
              </a:rPr>
              <a:t>You can also </a:t>
            </a:r>
            <a:r>
              <a:rPr lang="en-US" dirty="0">
                <a:latin typeface="var(--fontStack-monospace, ui-monospace, SFMono-Regular, SF Mono, Menlo, Consolas, Liberation Mono, monospace)"/>
              </a:rPr>
              <a:t>use</a:t>
            </a:r>
          </a:p>
          <a:p>
            <a:pPr marL="0" marR="0" lvl="0" indent="0" algn="l" defTabSz="4572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>
              <a:effectLst/>
              <a:latin typeface="var(--fontStack-monospace, ui-monospace, SFMono-Regular, SF Mono, Menlo, Consolas, Liberation Mono, monospace)"/>
            </a:endParaRPr>
          </a:p>
          <a:p>
            <a:pPr marL="0" marR="0" lvl="0" indent="0" algn="l" defTabSz="4572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var(--fontStack-monospace, ui-monospace, SFMono-Regular, SF Mono, Menlo, Consolas, Liberation Mono, monospace)"/>
              </a:rPr>
              <a:t>"</a:t>
            </a:r>
            <a:r>
              <a:rPr lang="en-US" sz="1800" dirty="0" err="1">
                <a:effectLst/>
                <a:latin typeface="var(--fontStack-monospace, ui-monospace, SFMono-Regular, SF Mono, Menlo, Consolas, Liberation Mono, monospace)"/>
              </a:rPr>
              <a:t>World_Physical_Map</a:t>
            </a:r>
            <a:r>
              <a:rPr lang="en-US" sz="1800" dirty="0">
                <a:effectLst/>
                <a:latin typeface="var(--fontStack-monospace, ui-monospace, SFMono-Regular, SF Mono, Menlo, Consolas, Liberation Mono, monospace)"/>
              </a:rPr>
              <a:t>", "</a:t>
            </a:r>
            <a:r>
              <a:rPr lang="en-US" sz="1800" dirty="0" err="1">
                <a:effectLst/>
                <a:latin typeface="var(--fontStack-monospace, ui-monospace, SFMono-Regular, SF Mono, Menlo, Consolas, Liberation Mono, monospace)"/>
              </a:rPr>
              <a:t>NatGeo_World_Map</a:t>
            </a:r>
            <a:r>
              <a:rPr lang="en-US" sz="1800" dirty="0">
                <a:effectLst/>
                <a:latin typeface="var(--fontStack-monospace, ui-monospace, SFMono-Regular, SF Mono, Menlo, Consolas, Liberation Mono, monospace)"/>
              </a:rPr>
              <a:t>", "</a:t>
            </a:r>
            <a:r>
              <a:rPr lang="en-US" sz="1800" dirty="0" err="1">
                <a:effectLst/>
                <a:latin typeface="var(--fontStack-monospace, ui-monospace, SFMono-Regular, SF Mono, Menlo, Consolas, Liberation Mono, monospace)"/>
              </a:rPr>
              <a:t>World_Street_Map</a:t>
            </a:r>
            <a:r>
              <a:rPr lang="en-US" sz="1800" dirty="0">
                <a:effectLst/>
                <a:latin typeface="var(--fontStack-monospace, ui-monospace, SFMono-Regular, SF Mono, Menlo, Consolas, Liberation Mono, monospace)"/>
              </a:rPr>
              <a:t>“</a:t>
            </a:r>
          </a:p>
          <a:p>
            <a:pPr marL="0" marR="0" lvl="0" indent="0" algn="l" defTabSz="4572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var(--fontStack-monospace, ui-monospace, SFMono-Regular, SF Mono, Menlo, Consolas, Liberation Mono, monospace)"/>
            </a:endParaRPr>
          </a:p>
          <a:p>
            <a:pPr marL="0" marR="0" lvl="0" indent="0" algn="l" defTabSz="4572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var(--fontStack-monospace, ui-monospace, SFMono-Regular, SF Mono, Menlo, Consolas, Liberation Mono, monospace)"/>
              </a:rPr>
              <a:t>This time we are using map provided by </a:t>
            </a:r>
            <a:r>
              <a:rPr lang="en-US" sz="1800" dirty="0" err="1">
                <a:effectLst/>
                <a:latin typeface="var(--fontStack-monospace, ui-monospace, SFMono-Regular, SF Mono, Menlo, Consolas, Liberation Mono, monospace)"/>
              </a:rPr>
              <a:t>arcgis</a:t>
            </a:r>
            <a:r>
              <a:rPr lang="en-US" sz="1800" dirty="0">
                <a:effectLst/>
                <a:latin typeface="var(--fontStack-monospace, ui-monospace, SFMono-Regular, SF Mono, Menlo, Consolas, Liberation Mono, monospace)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4997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141E4-3A61-C1A8-ABD5-7CDCC9B00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103DA-C47D-80BA-0175-B719EBD6E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018" y="225601"/>
            <a:ext cx="9404723" cy="1171801"/>
          </a:xfrm>
        </p:spPr>
        <p:txBody>
          <a:bodyPr/>
          <a:lstStyle/>
          <a:p>
            <a:r>
              <a:rPr lang="en-US" sz="3200" dirty="0"/>
              <a:t>We now provide all properties in .</a:t>
            </a:r>
            <a:r>
              <a:rPr lang="en-US" sz="3200" dirty="0" err="1"/>
              <a:t>json</a:t>
            </a:r>
            <a:r>
              <a:rPr lang="en-US" sz="3200" dirty="0"/>
              <a:t> file</a:t>
            </a:r>
            <a:br>
              <a:rPr lang="en-US" sz="3200" dirty="0"/>
            </a:br>
            <a:r>
              <a:rPr lang="en-US" sz="3200" dirty="0"/>
              <a:t>and use them in .</a:t>
            </a:r>
            <a:r>
              <a:rPr lang="en-US" sz="3200" dirty="0" err="1"/>
              <a:t>js</a:t>
            </a:r>
            <a:r>
              <a:rPr lang="en-US" sz="3200" dirty="0"/>
              <a:t> file as needed</a:t>
            </a:r>
            <a:endParaRPr lang="en-CA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1B7ED1-3CB5-236E-5A73-AEB2C2891E92}"/>
              </a:ext>
            </a:extLst>
          </p:cNvPr>
          <p:cNvSpPr/>
          <p:nvPr/>
        </p:nvSpPr>
        <p:spPr>
          <a:xfrm>
            <a:off x="0" y="6545952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If changes in viz does not show up after you change something in the plugin, then remember to hard reload, or disable cache. Check the code changes in dev mode.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33DB3-67DF-AF41-787B-CB15282DAE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/>
          <a:stretch/>
        </p:blipFill>
        <p:spPr>
          <a:xfrm>
            <a:off x="404018" y="3684326"/>
            <a:ext cx="11383964" cy="2257739"/>
          </a:xfrm>
          <a:prstGeom prst="rect">
            <a:avLst/>
          </a:prstGeom>
        </p:spPr>
      </p:pic>
      <p:sp>
        <p:nvSpPr>
          <p:cNvPr id="8" name="Double Bracket 7">
            <a:extLst>
              <a:ext uri="{FF2B5EF4-FFF2-40B4-BE49-F238E27FC236}">
                <a16:creationId xmlns:a16="http://schemas.microsoft.com/office/drawing/2014/main" id="{CD59D36E-4518-ED1E-79FB-A24AEE6430C9}"/>
              </a:ext>
            </a:extLst>
          </p:cNvPr>
          <p:cNvSpPr/>
          <p:nvPr/>
        </p:nvSpPr>
        <p:spPr>
          <a:xfrm>
            <a:off x="875489" y="3684326"/>
            <a:ext cx="10817158" cy="1588067"/>
          </a:xfrm>
          <a:prstGeom prst="bracketPair">
            <a:avLst>
              <a:gd name="adj" fmla="val 5029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208040-11C2-5847-8179-27C1DA0A6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451" y="2114043"/>
            <a:ext cx="3362794" cy="12384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A06933-ADD0-7AB4-6DCC-10F668E24065}"/>
              </a:ext>
            </a:extLst>
          </p:cNvPr>
          <p:cNvSpPr txBox="1"/>
          <p:nvPr/>
        </p:nvSpPr>
        <p:spPr>
          <a:xfrm>
            <a:off x="1344849" y="1661141"/>
            <a:ext cx="2335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Previous plugin .</a:t>
            </a:r>
            <a:r>
              <a:rPr lang="en-US" sz="1800" dirty="0" err="1"/>
              <a:t>js</a:t>
            </a:r>
            <a:r>
              <a:rPr lang="en-US" sz="1800" dirty="0"/>
              <a:t>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1547A0-C401-C31C-3635-C2CF540C9A82}"/>
              </a:ext>
            </a:extLst>
          </p:cNvPr>
          <p:cNvSpPr txBox="1"/>
          <p:nvPr/>
        </p:nvSpPr>
        <p:spPr>
          <a:xfrm>
            <a:off x="6445948" y="1697742"/>
            <a:ext cx="2335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New plugin .</a:t>
            </a:r>
            <a:r>
              <a:rPr lang="en-US" sz="1800" dirty="0" err="1"/>
              <a:t>js</a:t>
            </a:r>
            <a:r>
              <a:rPr lang="en-US" sz="1800" dirty="0"/>
              <a:t> </a:t>
            </a:r>
            <a:endParaRPr lang="en-US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98B648F-3FAC-9CA4-EBE0-8DC1EFC46F3D}"/>
              </a:ext>
            </a:extLst>
          </p:cNvPr>
          <p:cNvSpPr/>
          <p:nvPr/>
        </p:nvSpPr>
        <p:spPr>
          <a:xfrm>
            <a:off x="5350213" y="2519464"/>
            <a:ext cx="395841" cy="4660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EA4EB94-BD29-E7EF-9CDC-6B1E40D3B3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948" y="2114043"/>
            <a:ext cx="3330213" cy="12384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3E361086-4AF5-4369-DE2E-471E4E678EA9}"/>
              </a:ext>
            </a:extLst>
          </p:cNvPr>
          <p:cNvCxnSpPr>
            <a:cxnSpLocks/>
          </p:cNvCxnSpPr>
          <p:nvPr/>
        </p:nvCxnSpPr>
        <p:spPr>
          <a:xfrm flipV="1">
            <a:off x="4066162" y="2597285"/>
            <a:ext cx="2889115" cy="1322962"/>
          </a:xfrm>
          <a:prstGeom prst="bentConnector3">
            <a:avLst>
              <a:gd name="adj1" fmla="val 638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A0ED3715-6902-F747-C248-387E54D29A1F}"/>
              </a:ext>
            </a:extLst>
          </p:cNvPr>
          <p:cNvCxnSpPr>
            <a:cxnSpLocks/>
          </p:cNvCxnSpPr>
          <p:nvPr/>
        </p:nvCxnSpPr>
        <p:spPr>
          <a:xfrm flipV="1">
            <a:off x="4074391" y="2837204"/>
            <a:ext cx="2889115" cy="1322962"/>
          </a:xfrm>
          <a:prstGeom prst="bentConnector3">
            <a:avLst>
              <a:gd name="adj1" fmla="val 6919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F2B6422-F5AE-9D2F-D3E2-D34A30CD21B4}"/>
              </a:ext>
            </a:extLst>
          </p:cNvPr>
          <p:cNvSpPr txBox="1"/>
          <p:nvPr/>
        </p:nvSpPr>
        <p:spPr>
          <a:xfrm rot="16200000">
            <a:off x="-899264" y="4160166"/>
            <a:ext cx="2335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        .</a:t>
            </a:r>
            <a:r>
              <a:rPr lang="en-US" sz="1800" dirty="0" err="1"/>
              <a:t>json</a:t>
            </a:r>
            <a:r>
              <a:rPr lang="en-US" sz="1800" dirty="0"/>
              <a:t>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542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55353-C127-E32D-DFB3-0082B5918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4E64F-1637-9B50-AC62-896F0F19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455" y="2524709"/>
            <a:ext cx="5887396" cy="1400530"/>
          </a:xfrm>
        </p:spPr>
        <p:txBody>
          <a:bodyPr/>
          <a:lstStyle/>
          <a:p>
            <a:r>
              <a:rPr lang="en-US" dirty="0"/>
              <a:t>TASK 4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74881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F691D-AA7E-254C-4CC2-0FB7AA926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5912-CF98-8CF3-406C-86CE36F7B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75327"/>
          </a:xfrm>
        </p:spPr>
        <p:txBody>
          <a:bodyPr/>
          <a:lstStyle/>
          <a:p>
            <a:r>
              <a:rPr lang="en-US" sz="3600" dirty="0"/>
              <a:t>VGA helps to integrate external library. Here we incorporating an external text parsing library </a:t>
            </a: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Navigate to </a:t>
            </a:r>
            <a:r>
              <a:rPr lang="en-CA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4_external-lib/</a:t>
            </a:r>
            <a:br>
              <a:rPr lang="en-CA" sz="28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2800" dirty="0"/>
              <a:t>The output will show a long text</a:t>
            </a:r>
            <a:br>
              <a:rPr lang="en-US" sz="2800" dirty="0"/>
            </a:br>
            <a:endParaRPr lang="en-CA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6B6F0C-4D2D-F51D-82BF-8AF508F14512}"/>
              </a:ext>
            </a:extLst>
          </p:cNvPr>
          <p:cNvSpPr/>
          <p:nvPr/>
        </p:nvSpPr>
        <p:spPr>
          <a:xfrm>
            <a:off x="0" y="6545952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If changes in viz does not show up after you change something in the plugin, then remember to hard reload, or disable cache. Check the code changes in dev mode.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7EA224-5C69-5FC6-FEE4-9A6A20D6FB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572"/>
          <a:stretch/>
        </p:blipFill>
        <p:spPr>
          <a:xfrm>
            <a:off x="6213533" y="2528060"/>
            <a:ext cx="3599312" cy="18018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2C0BE2-294A-0766-F362-ECF8F6750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222" y="4511344"/>
            <a:ext cx="4825033" cy="1893938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A6C3FF92-7639-0B82-3092-C2D8FC01932C}"/>
              </a:ext>
            </a:extLst>
          </p:cNvPr>
          <p:cNvSpPr/>
          <p:nvPr/>
        </p:nvSpPr>
        <p:spPr>
          <a:xfrm>
            <a:off x="5600781" y="3184976"/>
            <a:ext cx="377687" cy="3077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B5F227-FAA6-0D54-9E2C-0708623B04E9}"/>
              </a:ext>
            </a:extLst>
          </p:cNvPr>
          <p:cNvSpPr txBox="1"/>
          <p:nvPr/>
        </p:nvSpPr>
        <p:spPr>
          <a:xfrm>
            <a:off x="646111" y="1472801"/>
            <a:ext cx="8914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https://www.npmjs.com/package/marked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6273D5-9398-3C28-2470-6FCDCB83C336}"/>
              </a:ext>
            </a:extLst>
          </p:cNvPr>
          <p:cNvSpPr txBox="1"/>
          <p:nvPr/>
        </p:nvSpPr>
        <p:spPr>
          <a:xfrm>
            <a:off x="646111" y="5235165"/>
            <a:ext cx="35993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We will pass the text to the parser library to get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3EE5CB3-C9DD-6582-B533-314A2D84AB91}"/>
              </a:ext>
            </a:extLst>
          </p:cNvPr>
          <p:cNvSpPr/>
          <p:nvPr/>
        </p:nvSpPr>
        <p:spPr>
          <a:xfrm>
            <a:off x="5567092" y="5554876"/>
            <a:ext cx="377687" cy="3077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25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7633A-0C9D-916A-6DDC-C5DADBD29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09F5B-92BF-440F-D3D8-10FA300F6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37" y="532435"/>
            <a:ext cx="7158354" cy="1176748"/>
          </a:xfrm>
        </p:spPr>
        <p:txBody>
          <a:bodyPr/>
          <a:lstStyle/>
          <a:p>
            <a:r>
              <a:rPr lang="en-US" sz="3200" dirty="0"/>
              <a:t>We have already specified our .</a:t>
            </a:r>
            <a:r>
              <a:rPr lang="en-US" sz="3200" dirty="0" err="1"/>
              <a:t>js</a:t>
            </a:r>
            <a:r>
              <a:rPr lang="en-US" sz="3200" dirty="0"/>
              <a:t> file plugin in the .</a:t>
            </a:r>
            <a:r>
              <a:rPr lang="en-US" sz="3200" dirty="0" err="1"/>
              <a:t>json</a:t>
            </a:r>
            <a:r>
              <a:rPr lang="en-US" sz="3200" dirty="0"/>
              <a:t> file </a:t>
            </a:r>
            <a:br>
              <a:rPr lang="en-US" sz="3200" dirty="0"/>
            </a:br>
            <a:br>
              <a:rPr lang="en-US" sz="2400" b="1" dirty="0"/>
            </a:br>
            <a:r>
              <a:rPr lang="en-US" sz="3200" b="1" dirty="0"/>
              <a:t>Let’s now examine the plugin .</a:t>
            </a:r>
            <a:r>
              <a:rPr lang="en-US" sz="3200" b="1" dirty="0" err="1"/>
              <a:t>js</a:t>
            </a:r>
            <a:r>
              <a:rPr lang="en-US" sz="3200" b="1" dirty="0"/>
              <a:t> file</a:t>
            </a:r>
            <a:endParaRPr lang="en-CA" sz="32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52E0D0-06C1-C8F9-236A-94CD322A2006}"/>
              </a:ext>
            </a:extLst>
          </p:cNvPr>
          <p:cNvSpPr/>
          <p:nvPr/>
        </p:nvSpPr>
        <p:spPr>
          <a:xfrm>
            <a:off x="0" y="6545952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If changes in viz does not show up after you change something in the plugin, then remember to hard reload, or disable cache. Check the code changes in dev mode.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B92FF6-AD96-6F4C-AFEB-4F2C6BC7A5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727" b="12045"/>
          <a:stretch/>
        </p:blipFill>
        <p:spPr>
          <a:xfrm>
            <a:off x="7639291" y="196715"/>
            <a:ext cx="4144677" cy="176582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3DB7A47-6F26-4ED0-BC65-A177F3D5B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36" y="2971095"/>
            <a:ext cx="6287377" cy="3524742"/>
          </a:xfrm>
          <a:prstGeom prst="rect">
            <a:avLst/>
          </a:prstGeom>
        </p:spPr>
      </p:pic>
      <p:sp>
        <p:nvSpPr>
          <p:cNvPr id="29" name="Speech Bubble: Rectangle 28">
            <a:extLst>
              <a:ext uri="{FF2B5EF4-FFF2-40B4-BE49-F238E27FC236}">
                <a16:creationId xmlns:a16="http://schemas.microsoft.com/office/drawing/2014/main" id="{C2EFA541-8914-681A-026C-9913BD311561}"/>
              </a:ext>
            </a:extLst>
          </p:cNvPr>
          <p:cNvSpPr/>
          <p:nvPr/>
        </p:nvSpPr>
        <p:spPr>
          <a:xfrm>
            <a:off x="6402525" y="2850326"/>
            <a:ext cx="5373633" cy="1171801"/>
          </a:xfrm>
          <a:prstGeom prst="wedgeRectCallout">
            <a:avLst>
              <a:gd name="adj1" fmla="val -107696"/>
              <a:gd name="adj2" fmla="val -5986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We have written a </a:t>
            </a:r>
            <a:r>
              <a:rPr lang="en-CA" dirty="0" err="1"/>
              <a:t>javascript</a:t>
            </a:r>
            <a:r>
              <a:rPr lang="en-CA" dirty="0"/>
              <a:t> function that will read a file from the </a:t>
            </a:r>
            <a:r>
              <a:rPr lang="en-CA" dirty="0" err="1"/>
              <a:t>url</a:t>
            </a:r>
            <a:r>
              <a:rPr lang="en-CA" dirty="0"/>
              <a:t> specified and render the content in help container</a:t>
            </a:r>
          </a:p>
        </p:txBody>
      </p:sp>
      <p:sp>
        <p:nvSpPr>
          <p:cNvPr id="30" name="Speech Bubble: Rectangle 29">
            <a:extLst>
              <a:ext uri="{FF2B5EF4-FFF2-40B4-BE49-F238E27FC236}">
                <a16:creationId xmlns:a16="http://schemas.microsoft.com/office/drawing/2014/main" id="{86C63FDF-6312-CA11-3E00-A5D3E982D778}"/>
              </a:ext>
            </a:extLst>
          </p:cNvPr>
          <p:cNvSpPr/>
          <p:nvPr/>
        </p:nvSpPr>
        <p:spPr>
          <a:xfrm>
            <a:off x="6402524" y="4346920"/>
            <a:ext cx="5373633" cy="572322"/>
          </a:xfrm>
          <a:prstGeom prst="wedgeRectCallout">
            <a:avLst>
              <a:gd name="adj1" fmla="val -50400"/>
              <a:gd name="adj2" fmla="val 104591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Here we are fetching the file from the server</a:t>
            </a:r>
          </a:p>
        </p:txBody>
      </p:sp>
      <p:sp>
        <p:nvSpPr>
          <p:cNvPr id="31" name="Speech Bubble: Rectangle 30">
            <a:extLst>
              <a:ext uri="{FF2B5EF4-FFF2-40B4-BE49-F238E27FC236}">
                <a16:creationId xmlns:a16="http://schemas.microsoft.com/office/drawing/2014/main" id="{C3B8C16E-A20A-4E14-ABB8-9ED65F397E39}"/>
              </a:ext>
            </a:extLst>
          </p:cNvPr>
          <p:cNvSpPr/>
          <p:nvPr/>
        </p:nvSpPr>
        <p:spPr>
          <a:xfrm>
            <a:off x="6402524" y="5648837"/>
            <a:ext cx="5373633" cy="572322"/>
          </a:xfrm>
          <a:prstGeom prst="wedgeRectCallout">
            <a:avLst>
              <a:gd name="adj1" fmla="val -68278"/>
              <a:gd name="adj2" fmla="val -83493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Here we are using the </a:t>
            </a:r>
            <a:r>
              <a:rPr lang="en-CA" dirty="0" err="1"/>
              <a:t>marked.parse</a:t>
            </a:r>
            <a:r>
              <a:rPr lang="en-CA" dirty="0"/>
              <a:t> function provided by the parser to reformat the content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E834450-04C2-7034-94A1-BE868D04A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36" y="2460487"/>
            <a:ext cx="6591195" cy="364781"/>
          </a:xfrm>
          <a:prstGeom prst="rect">
            <a:avLst/>
          </a:prstGeom>
        </p:spPr>
      </p:pic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2CCBE3B7-0CD9-214C-4F6D-FE33EC80E2C3}"/>
              </a:ext>
            </a:extLst>
          </p:cNvPr>
          <p:cNvSpPr/>
          <p:nvPr/>
        </p:nvSpPr>
        <p:spPr>
          <a:xfrm>
            <a:off x="6402523" y="2029122"/>
            <a:ext cx="5373634" cy="364782"/>
          </a:xfrm>
          <a:prstGeom prst="wedgeRectCallout">
            <a:avLst>
              <a:gd name="adj1" fmla="val -39414"/>
              <a:gd name="adj2" fmla="val 111417"/>
            </a:avLst>
          </a:prstGeom>
          <a:ln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Importing the external library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70346B74-7597-D9A3-79EC-C93012A8EF1C}"/>
              </a:ext>
            </a:extLst>
          </p:cNvPr>
          <p:cNvSpPr/>
          <p:nvPr/>
        </p:nvSpPr>
        <p:spPr>
          <a:xfrm>
            <a:off x="6736390" y="600774"/>
            <a:ext cx="798729" cy="4660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532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C39A9-190B-B6E4-728E-AF55A12B9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91965-0FE7-8732-34E9-8A14D6FF2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37" y="532435"/>
            <a:ext cx="7158354" cy="1176748"/>
          </a:xfrm>
        </p:spPr>
        <p:txBody>
          <a:bodyPr/>
          <a:lstStyle/>
          <a:p>
            <a:r>
              <a:rPr lang="en-US" sz="3200" dirty="0"/>
              <a:t>Instead of hard-coding the file path in the plugin code, you can specify it in the .</a:t>
            </a:r>
            <a:r>
              <a:rPr lang="en-US" sz="3200" dirty="0" err="1"/>
              <a:t>json</a:t>
            </a:r>
            <a:r>
              <a:rPr lang="en-US" sz="3200" dirty="0"/>
              <a:t> file and access the property in .</a:t>
            </a:r>
            <a:r>
              <a:rPr lang="en-US" sz="3200" dirty="0" err="1"/>
              <a:t>js</a:t>
            </a:r>
            <a:r>
              <a:rPr lang="en-US" sz="3200" dirty="0"/>
              <a:t> file</a:t>
            </a:r>
            <a:endParaRPr lang="en-CA" sz="32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5E3A2E-663A-BF08-FA91-2B90E0AC46A0}"/>
              </a:ext>
            </a:extLst>
          </p:cNvPr>
          <p:cNvSpPr/>
          <p:nvPr/>
        </p:nvSpPr>
        <p:spPr>
          <a:xfrm>
            <a:off x="0" y="6545952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If changes in viz does not show up after you change something in the plugin, then remember to hard reload, or disable cache. Check the code changes in dev mode.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30ED541-1373-473D-478C-1D9270CF1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36" y="2971095"/>
            <a:ext cx="6287377" cy="352474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B3C8D64-9B14-D75D-942A-F80B5063B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36" y="2460487"/>
            <a:ext cx="6591195" cy="3647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7FF249-AB81-DC15-1F0D-8E0826E9CF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3137" y="4428673"/>
            <a:ext cx="4972744" cy="933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44F5FE-B218-936F-2379-F32A36D2E2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4486" y="-20079"/>
            <a:ext cx="4091395" cy="3719451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AA530F32-B3AA-06DC-A532-7C12EADF9E7B}"/>
              </a:ext>
            </a:extLst>
          </p:cNvPr>
          <p:cNvSpPr/>
          <p:nvPr/>
        </p:nvSpPr>
        <p:spPr>
          <a:xfrm rot="5400000">
            <a:off x="8321095" y="3446072"/>
            <a:ext cx="1499200" cy="4660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489AEE4-902C-967A-E60E-A4DE5245C2C8}"/>
              </a:ext>
            </a:extLst>
          </p:cNvPr>
          <p:cNvSpPr/>
          <p:nvPr/>
        </p:nvSpPr>
        <p:spPr>
          <a:xfrm rot="21223494">
            <a:off x="4791614" y="2700164"/>
            <a:ext cx="3579108" cy="4660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0511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38922-A96D-CDEC-7297-985CF4B0A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3F9ED-22DE-ABD7-72AE-46C2A710C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455" y="2524709"/>
            <a:ext cx="5887396" cy="1400530"/>
          </a:xfrm>
        </p:spPr>
        <p:txBody>
          <a:bodyPr/>
          <a:lstStyle/>
          <a:p>
            <a:r>
              <a:rPr lang="en-US" dirty="0"/>
              <a:t>TASK 5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71212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F54CC-B513-ED62-7A18-6211C1152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EE93F0-BFBB-CFD6-0861-4F5596F1E1E4}"/>
              </a:ext>
            </a:extLst>
          </p:cNvPr>
          <p:cNvSpPr/>
          <p:nvPr/>
        </p:nvSpPr>
        <p:spPr>
          <a:xfrm>
            <a:off x="0" y="6545952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If changes in viz does not show up after you change something in the plugin, then remember to hard reload, or disable cache. Check the code changes in dev mode.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23FE85-291B-1183-778A-B395C2AF3017}"/>
              </a:ext>
            </a:extLst>
          </p:cNvPr>
          <p:cNvSpPr txBox="1"/>
          <p:nvPr/>
        </p:nvSpPr>
        <p:spPr>
          <a:xfrm>
            <a:off x="731902" y="1472801"/>
            <a:ext cx="8914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https://www.chartjs.org/docs/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1F768E-6CA1-45B9-F181-2B157FD62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191" y="2444179"/>
            <a:ext cx="5609989" cy="3715170"/>
          </a:xfrm>
          <a:prstGeom prst="round2DiagRect">
            <a:avLst>
              <a:gd name="adj1" fmla="val 8509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849A089-5AE8-5BE3-D0A8-4A638A704C51}"/>
              </a:ext>
            </a:extLst>
          </p:cNvPr>
          <p:cNvSpPr txBox="1">
            <a:spLocks/>
          </p:cNvSpPr>
          <p:nvPr/>
        </p:nvSpPr>
        <p:spPr>
          <a:xfrm>
            <a:off x="646111" y="301000"/>
            <a:ext cx="9404723" cy="11718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/>
              <a:t>VGA helps to integrate external library. Here we incorporating an external chart building library</a:t>
            </a:r>
            <a:br>
              <a:rPr lang="en-US" sz="3600" dirty="0"/>
            </a:br>
            <a:endParaRPr lang="en-CA" sz="36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B166FC2-3081-B250-4AA4-6BB44525D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3375327"/>
          </a:xfrm>
        </p:spPr>
        <p:txBody>
          <a:bodyPr/>
          <a:lstStyle/>
          <a:p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Navigate to </a:t>
            </a:r>
            <a:r>
              <a:rPr lang="en-CA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5_chart</a:t>
            </a:r>
            <a:br>
              <a:rPr lang="en-CA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2800" dirty="0"/>
              <a:t>The output will show a chart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3539386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0A7D0-7FBF-2DB1-6F7E-6EEA96989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CEE542-9748-BC57-367E-8DCD948943F4}"/>
              </a:ext>
            </a:extLst>
          </p:cNvPr>
          <p:cNvSpPr/>
          <p:nvPr/>
        </p:nvSpPr>
        <p:spPr>
          <a:xfrm>
            <a:off x="0" y="6545952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If changes in viz does not show up after you change something in the plugin, then remember to hard reload, or disable cache. Check the code changes in dev mode.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F446CB3-CFDC-D461-4438-5CE7A62F9CA2}"/>
              </a:ext>
            </a:extLst>
          </p:cNvPr>
          <p:cNvSpPr txBox="1">
            <a:spLocks/>
          </p:cNvSpPr>
          <p:nvPr/>
        </p:nvSpPr>
        <p:spPr>
          <a:xfrm>
            <a:off x="566928" y="139138"/>
            <a:ext cx="11252178" cy="17772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/>
              <a:t>First import the chart library</a:t>
            </a:r>
          </a:p>
          <a:p>
            <a:r>
              <a:rPr lang="en-US" sz="3600" dirty="0"/>
              <a:t>Create a &lt;div&gt; and append it to the html container</a:t>
            </a:r>
          </a:p>
          <a:p>
            <a:r>
              <a:rPr lang="en-CA" sz="3600" dirty="0"/>
              <a:t>Append a canvas to the &lt;div&gt;</a:t>
            </a:r>
          </a:p>
          <a:p>
            <a:r>
              <a:rPr lang="en-CA" sz="3600" dirty="0"/>
              <a:t>Render a chart using the imported lib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31C241-7DD7-8564-7293-EE397E6E57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4"/>
          <a:stretch/>
        </p:blipFill>
        <p:spPr>
          <a:xfrm>
            <a:off x="566928" y="2364823"/>
            <a:ext cx="5880644" cy="40105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5133B4-A262-F4E9-97E4-7E68691D1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686" y="1621770"/>
            <a:ext cx="4058216" cy="47536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3CCFD4-CF8B-90CA-8BA9-3262D9B9CEBB}"/>
              </a:ext>
            </a:extLst>
          </p:cNvPr>
          <p:cNvSpPr txBox="1"/>
          <p:nvPr/>
        </p:nvSpPr>
        <p:spPr>
          <a:xfrm rot="20358427">
            <a:off x="8340621" y="3536925"/>
            <a:ext cx="2691811" cy="923330"/>
          </a:xfrm>
          <a:prstGeom prst="rect">
            <a:avLst/>
          </a:prstGeom>
          <a:solidFill>
            <a:schemeClr val="accent2">
              <a:alpha val="76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 code created following the external chart library specification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33585CDE-B2D4-BD81-C231-0A14B1C0BD72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 flipV="1">
            <a:off x="4416362" y="3998588"/>
            <a:ext cx="3442325" cy="2129835"/>
          </a:xfrm>
          <a:prstGeom prst="bentConnector3">
            <a:avLst>
              <a:gd name="adj1" fmla="val 14959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Arrow: U-Turn 26">
            <a:extLst>
              <a:ext uri="{FF2B5EF4-FFF2-40B4-BE49-F238E27FC236}">
                <a16:creationId xmlns:a16="http://schemas.microsoft.com/office/drawing/2014/main" id="{089BF074-84BC-7871-BE23-44DF433827DE}"/>
              </a:ext>
            </a:extLst>
          </p:cNvPr>
          <p:cNvSpPr/>
          <p:nvPr/>
        </p:nvSpPr>
        <p:spPr>
          <a:xfrm rot="5400000" flipV="1">
            <a:off x="-631209" y="1350251"/>
            <a:ext cx="2192514" cy="301554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1686"/>
              <a:gd name="adj5" fmla="val 7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Arrow: U-Turn 28">
            <a:extLst>
              <a:ext uri="{FF2B5EF4-FFF2-40B4-BE49-F238E27FC236}">
                <a16:creationId xmlns:a16="http://schemas.microsoft.com/office/drawing/2014/main" id="{D454AD32-BF0E-588F-3A8F-F3F2B6129A62}"/>
              </a:ext>
            </a:extLst>
          </p:cNvPr>
          <p:cNvSpPr/>
          <p:nvPr/>
        </p:nvSpPr>
        <p:spPr>
          <a:xfrm rot="5400000" flipV="1">
            <a:off x="-1594283" y="2591961"/>
            <a:ext cx="3878303" cy="541913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1686"/>
              <a:gd name="adj5" fmla="val 7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059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662B0-FA5B-B687-D311-E7EC5EC58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DA3E8-1E18-7200-B90E-04FC026A8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455" y="2524709"/>
            <a:ext cx="5887396" cy="1400530"/>
          </a:xfrm>
        </p:spPr>
        <p:txBody>
          <a:bodyPr/>
          <a:lstStyle/>
          <a:p>
            <a:r>
              <a:rPr lang="en-US" dirty="0"/>
              <a:t>TASK 6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437869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10EAD-E87C-6D8B-50FD-DC7314E54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B16FB9-F25A-B4C6-6BA7-1DBC66AAE90E}"/>
              </a:ext>
            </a:extLst>
          </p:cNvPr>
          <p:cNvSpPr/>
          <p:nvPr/>
        </p:nvSpPr>
        <p:spPr>
          <a:xfrm>
            <a:off x="0" y="6545952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If changes in viz does not show up after you change something in the plugin, then remember to hard reload, or disable cache. Check the code changes in dev mode.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F7DF1F-E9CF-C93D-52DB-5E5B06D110BA}"/>
              </a:ext>
            </a:extLst>
          </p:cNvPr>
          <p:cNvSpPr txBox="1">
            <a:spLocks/>
          </p:cNvSpPr>
          <p:nvPr/>
        </p:nvSpPr>
        <p:spPr>
          <a:xfrm>
            <a:off x="646111" y="301000"/>
            <a:ext cx="9404723" cy="11718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/>
              <a:t>VGA helps to integrate external library. Here we incorporating an external d3  library</a:t>
            </a:r>
            <a:br>
              <a:rPr lang="en-US" sz="3600" dirty="0"/>
            </a:br>
            <a:endParaRPr lang="en-CA" sz="36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591C07-DE1B-1B12-B296-31770AA16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2135603"/>
            <a:ext cx="9404723" cy="3375327"/>
          </a:xfrm>
        </p:spPr>
        <p:txBody>
          <a:bodyPr/>
          <a:lstStyle/>
          <a:p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Navigate to </a:t>
            </a:r>
            <a:r>
              <a:rPr lang="en-CA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6_d3</a:t>
            </a:r>
            <a:br>
              <a:rPr lang="en-CA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sz="2800" dirty="0"/>
              <a:t>The output will be a rectangle </a:t>
            </a:r>
            <a:br>
              <a:rPr lang="en-US" sz="2800" dirty="0"/>
            </a:br>
            <a:r>
              <a:rPr lang="en-US" sz="2800" dirty="0"/>
              <a:t>drawn using d3</a:t>
            </a:r>
            <a:endParaRPr lang="en-CA" sz="3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858E43-E136-F611-9CB6-20935FA61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805" y="1841276"/>
            <a:ext cx="4391634" cy="4187165"/>
          </a:xfrm>
          <a:prstGeom prst="round2DiagRect">
            <a:avLst>
              <a:gd name="adj1" fmla="val 8509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4555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40C3-A767-B5F7-3707-9C0D9BD66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F2DB1F-67D9-AE97-E005-15A4D435F7E4}"/>
              </a:ext>
            </a:extLst>
          </p:cNvPr>
          <p:cNvSpPr/>
          <p:nvPr/>
        </p:nvSpPr>
        <p:spPr>
          <a:xfrm>
            <a:off x="0" y="6545952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If changes in viz does not show up after you change something in the plugin, then remember to hard reload, or disable cache. Check the code changes in dev mode.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955F10B-488B-38A9-30F5-D97D64BE03B2}"/>
              </a:ext>
            </a:extLst>
          </p:cNvPr>
          <p:cNvSpPr txBox="1">
            <a:spLocks/>
          </p:cNvSpPr>
          <p:nvPr/>
        </p:nvSpPr>
        <p:spPr>
          <a:xfrm>
            <a:off x="566928" y="139138"/>
            <a:ext cx="11252178" cy="17772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/>
              <a:t>First import the chart library</a:t>
            </a:r>
          </a:p>
          <a:p>
            <a:r>
              <a:rPr lang="en-US" sz="3600" dirty="0"/>
              <a:t>Create a &lt;div&gt; and append it to the html container</a:t>
            </a:r>
          </a:p>
          <a:p>
            <a:r>
              <a:rPr lang="en-CA" sz="3600" dirty="0"/>
              <a:t>Append a canvas to the &lt;div&gt;</a:t>
            </a:r>
          </a:p>
          <a:p>
            <a:r>
              <a:rPr lang="en-CA" sz="3600" dirty="0"/>
              <a:t>Render a chart using the imported lib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DCA6B6-BB1A-EFEF-00FA-05A5AD79311B}"/>
              </a:ext>
            </a:extLst>
          </p:cNvPr>
          <p:cNvSpPr txBox="1"/>
          <p:nvPr/>
        </p:nvSpPr>
        <p:spPr>
          <a:xfrm>
            <a:off x="8394892" y="3089324"/>
            <a:ext cx="2691811" cy="646331"/>
          </a:xfrm>
          <a:prstGeom prst="rect">
            <a:avLst/>
          </a:prstGeom>
          <a:solidFill>
            <a:schemeClr val="accent2">
              <a:alpha val="76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 code created following the d3 library specification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79F70E38-BF7B-460B-FEB4-AF5BF65B73C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416362" y="3998588"/>
            <a:ext cx="3442325" cy="2129835"/>
          </a:xfrm>
          <a:prstGeom prst="bentConnector3">
            <a:avLst>
              <a:gd name="adj1" fmla="val 14959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Arrow: U-Turn 26">
            <a:extLst>
              <a:ext uri="{FF2B5EF4-FFF2-40B4-BE49-F238E27FC236}">
                <a16:creationId xmlns:a16="http://schemas.microsoft.com/office/drawing/2014/main" id="{FCE3112E-F2B2-274D-44B0-64A9C6609111}"/>
              </a:ext>
            </a:extLst>
          </p:cNvPr>
          <p:cNvSpPr/>
          <p:nvPr/>
        </p:nvSpPr>
        <p:spPr>
          <a:xfrm rot="5400000" flipV="1">
            <a:off x="-631209" y="1350251"/>
            <a:ext cx="2192514" cy="301554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1686"/>
              <a:gd name="adj5" fmla="val 7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Arrow: U-Turn 28">
            <a:extLst>
              <a:ext uri="{FF2B5EF4-FFF2-40B4-BE49-F238E27FC236}">
                <a16:creationId xmlns:a16="http://schemas.microsoft.com/office/drawing/2014/main" id="{6C66A45F-B135-826D-B63D-53E85F59B7FB}"/>
              </a:ext>
            </a:extLst>
          </p:cNvPr>
          <p:cNvSpPr/>
          <p:nvPr/>
        </p:nvSpPr>
        <p:spPr>
          <a:xfrm rot="5400000" flipV="1">
            <a:off x="-1594283" y="2591961"/>
            <a:ext cx="3878303" cy="541913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1686"/>
              <a:gd name="adj5" fmla="val 7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E25D2-92A5-DB15-8CB8-05E440567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98" y="2365329"/>
            <a:ext cx="6239746" cy="43535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45155A-D0CA-1764-9DC1-C82B7887D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491" y="3876707"/>
            <a:ext cx="4156615" cy="212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7171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3318</TotalTime>
  <Words>2131</Words>
  <Application>Microsoft Office PowerPoint</Application>
  <PresentationFormat>Widescreen</PresentationFormat>
  <Paragraphs>178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var(--fontStack-monospace, ui-monospace, SFMono-Regular, SF Mono, Menlo, Consolas, Liberation Mono, monospace)</vt:lpstr>
      <vt:lpstr>Wingdings 3</vt:lpstr>
      <vt:lpstr>Ion</vt:lpstr>
      <vt:lpstr>  Creating Dashboard using  VGA (Visualization for Geospatial Analysis) Framework</vt:lpstr>
      <vt:lpstr>What is VGA?</vt:lpstr>
      <vt:lpstr>TASK 1</vt:lpstr>
      <vt:lpstr>Creating Visualization Dashboard</vt:lpstr>
      <vt:lpstr>Creating Visualization Dashboard</vt:lpstr>
      <vt:lpstr>Understanding the code</vt:lpstr>
      <vt:lpstr>Understanding the code</vt:lpstr>
      <vt:lpstr>Understanding the code</vt:lpstr>
      <vt:lpstr>Understanding the code</vt:lpstr>
      <vt:lpstr>The Plugin .js code</vt:lpstr>
      <vt:lpstr>The Plugin .js code</vt:lpstr>
      <vt:lpstr>TASK 2</vt:lpstr>
      <vt:lpstr>The html and .json files are the same as TASK1. The only change is in the .js file</vt:lpstr>
      <vt:lpstr>Understanding the code</vt:lpstr>
      <vt:lpstr>Task2: Plugin .js code</vt:lpstr>
      <vt:lpstr>PowerPoint Presentation</vt:lpstr>
      <vt:lpstr>TASK 3</vt:lpstr>
      <vt:lpstr>This task shows how you can specify properties in .json file and access them in .js file  Navigate to 3_passing-props/  The output will be the same as Task 2</vt:lpstr>
      <vt:lpstr>We now provide all properties in .json file and use them in .js file as needed</vt:lpstr>
      <vt:lpstr>We now provide all properties in .json file and use them in .js file as needed</vt:lpstr>
      <vt:lpstr>TASK 4</vt:lpstr>
      <vt:lpstr>VGA helps to integrate external library. Here we incorporating an external text parsing library    Navigate to 4_external-lib/ The output will show a long text </vt:lpstr>
      <vt:lpstr>We have already specified our .js file plugin in the .json file   Let’s now examine the plugin .js file</vt:lpstr>
      <vt:lpstr>Instead of hard-coding the file path in the plugin code, you can specify it in the .json file and access the property in .js file</vt:lpstr>
      <vt:lpstr>TASK 5</vt:lpstr>
      <vt:lpstr>     Navigate to 5_chart The output will show a chart</vt:lpstr>
      <vt:lpstr>PowerPoint Presentation</vt:lpstr>
      <vt:lpstr>TASK 6</vt:lpstr>
      <vt:lpstr>     Navigate to 6_d3 The output will be a rectangle  drawn using d3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D3.js</dc:title>
  <dc:creator>debajyoti mondal</dc:creator>
  <cp:lastModifiedBy>Mondal, Debajyoti</cp:lastModifiedBy>
  <cp:revision>129</cp:revision>
  <dcterms:created xsi:type="dcterms:W3CDTF">2017-12-03T16:27:57Z</dcterms:created>
  <dcterms:modified xsi:type="dcterms:W3CDTF">2025-02-11T06:32:55Z</dcterms:modified>
</cp:coreProperties>
</file>